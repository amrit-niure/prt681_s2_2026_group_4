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ptos Bold" charset="1" panose="020B0004020202020204"/>
      <p:regular r:id="rId17"/>
    </p:embeddedFont>
    <p:embeddedFont>
      <p:font typeface="Aptos" charset="1" panose="020B0004020202020204"/>
      <p:regular r:id="rId18"/>
    </p:embeddedFont>
    <p:embeddedFont>
      <p:font typeface="Aptos Italics" charset="1" panose="020B000402020209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56210"/>
            <a:chOff x="0" y="0"/>
            <a:chExt cx="24408790" cy="208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08280"/>
            </a:xfrm>
            <a:custGeom>
              <a:avLst/>
              <a:gdLst/>
              <a:ahLst/>
              <a:cxnLst/>
              <a:rect r="r" b="b" t="t" l="l"/>
              <a:pathLst>
                <a:path h="20828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08280"/>
                  </a:lnTo>
                  <a:lnTo>
                    <a:pt x="0" y="208280"/>
                  </a:lnTo>
                  <a:close/>
                </a:path>
              </a:pathLst>
            </a:custGeom>
            <a:solidFill>
              <a:srgbClr val="F97316"/>
            </a:solidFill>
            <a:ln w="1905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441430" y="1497330"/>
            <a:ext cx="5715000" cy="6675120"/>
            <a:chOff x="0" y="0"/>
            <a:chExt cx="7620000" cy="890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00" cy="8900161"/>
            </a:xfrm>
            <a:custGeom>
              <a:avLst/>
              <a:gdLst/>
              <a:ahLst/>
              <a:cxnLst/>
              <a:rect r="r" b="b" t="t" l="l"/>
              <a:pathLst>
                <a:path h="8900161" w="7620000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7436358" y="0"/>
                  </a:lnTo>
                  <a:cubicBezTo>
                    <a:pt x="7537831" y="0"/>
                    <a:pt x="7620000" y="82169"/>
                    <a:pt x="7620000" y="183642"/>
                  </a:cubicBezTo>
                  <a:lnTo>
                    <a:pt x="7620000" y="8716518"/>
                  </a:lnTo>
                  <a:cubicBezTo>
                    <a:pt x="7620000" y="8817991"/>
                    <a:pt x="7537831" y="8900161"/>
                    <a:pt x="7436358" y="8900161"/>
                  </a:cubicBezTo>
                  <a:lnTo>
                    <a:pt x="183642" y="8900161"/>
                  </a:lnTo>
                  <a:cubicBezTo>
                    <a:pt x="82169" y="8900160"/>
                    <a:pt x="0" y="8817991"/>
                    <a:pt x="0" y="8716518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FED7A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581763" y="2212467"/>
            <a:ext cx="3475482" cy="5162550"/>
            <a:chOff x="0" y="0"/>
            <a:chExt cx="4633976" cy="6883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33976" cy="6883400"/>
            </a:xfrm>
            <a:custGeom>
              <a:avLst/>
              <a:gdLst/>
              <a:ahLst/>
              <a:cxnLst/>
              <a:rect r="r" b="b" t="t" l="l"/>
              <a:pathLst>
                <a:path h="6883400" w="4633976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4413250" y="0"/>
                  </a:lnTo>
                  <a:cubicBezTo>
                    <a:pt x="4535170" y="0"/>
                    <a:pt x="4633976" y="98806"/>
                    <a:pt x="4633976" y="220726"/>
                  </a:cubicBezTo>
                  <a:lnTo>
                    <a:pt x="4633976" y="6662674"/>
                  </a:lnTo>
                  <a:cubicBezTo>
                    <a:pt x="4633976" y="6784594"/>
                    <a:pt x="4535170" y="6883400"/>
                    <a:pt x="4413250" y="6883400"/>
                  </a:cubicBezTo>
                  <a:lnTo>
                    <a:pt x="220726" y="6883400"/>
                  </a:lnTo>
                  <a:cubicBezTo>
                    <a:pt x="98806" y="6883400"/>
                    <a:pt x="0" y="6784594"/>
                    <a:pt x="0" y="6662674"/>
                  </a:cubicBezTo>
                  <a:close/>
                </a:path>
              </a:pathLst>
            </a:custGeom>
            <a:solidFill>
              <a:srgbClr val="0F172A"/>
            </a:solidFill>
            <a:ln w="19050" cap="sq">
              <a:solidFill>
                <a:srgbClr val="0F172A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801219" y="2486787"/>
            <a:ext cx="3036570" cy="4463034"/>
            <a:chOff x="0" y="0"/>
            <a:chExt cx="4048760" cy="5950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48760" cy="5950712"/>
            </a:xfrm>
            <a:custGeom>
              <a:avLst/>
              <a:gdLst/>
              <a:ahLst/>
              <a:cxnLst/>
              <a:rect r="r" b="b" t="t" l="l"/>
              <a:pathLst>
                <a:path h="5950712" w="404876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3901567" y="0"/>
                  </a:lnTo>
                  <a:cubicBezTo>
                    <a:pt x="3982847" y="0"/>
                    <a:pt x="4048760" y="65913"/>
                    <a:pt x="4048760" y="147193"/>
                  </a:cubicBezTo>
                  <a:lnTo>
                    <a:pt x="4048760" y="5803519"/>
                  </a:lnTo>
                  <a:cubicBezTo>
                    <a:pt x="4048760" y="5884799"/>
                    <a:pt x="3982847" y="5950712"/>
                    <a:pt x="3901567" y="5950712"/>
                  </a:cubicBezTo>
                  <a:lnTo>
                    <a:pt x="147193" y="5950712"/>
                  </a:lnTo>
                  <a:cubicBezTo>
                    <a:pt x="65913" y="5950712"/>
                    <a:pt x="0" y="5884799"/>
                    <a:pt x="0" y="5803519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F8FAF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953363" y="2637663"/>
            <a:ext cx="773430" cy="773430"/>
            <a:chOff x="0" y="0"/>
            <a:chExt cx="1031240" cy="1031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ED7AA"/>
            </a:solidFill>
            <a:ln w="19050" cap="sq">
              <a:solidFill>
                <a:srgbClr val="FB923C"/>
              </a:solidFill>
              <a:prstDash val="solid"/>
              <a:miter/>
            </a:ln>
          </p:spPr>
        </p:sp>
      </p:grpSp>
      <p:sp>
        <p:nvSpPr>
          <p:cNvPr name="AutoShape 12" id="12"/>
          <p:cNvSpPr/>
          <p:nvPr/>
        </p:nvSpPr>
        <p:spPr>
          <a:xfrm rot="58680">
            <a:off x="13230444" y="3762375"/>
            <a:ext cx="2232984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76500">
            <a:off x="13230396" y="4215003"/>
            <a:ext cx="1711881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3212699" y="4763643"/>
            <a:ext cx="2268474" cy="732282"/>
            <a:chOff x="0" y="0"/>
            <a:chExt cx="3024632" cy="9763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24632" cy="976376"/>
            </a:xfrm>
            <a:custGeom>
              <a:avLst/>
              <a:gdLst/>
              <a:ahLst/>
              <a:cxnLst/>
              <a:rect r="r" b="b" t="t" l="l"/>
              <a:pathLst>
                <a:path h="976376" w="3024632">
                  <a:moveTo>
                    <a:pt x="0" y="93853"/>
                  </a:moveTo>
                  <a:cubicBezTo>
                    <a:pt x="0" y="42037"/>
                    <a:pt x="42037" y="0"/>
                    <a:pt x="93853" y="0"/>
                  </a:cubicBezTo>
                  <a:lnTo>
                    <a:pt x="2930779" y="0"/>
                  </a:lnTo>
                  <a:cubicBezTo>
                    <a:pt x="2982595" y="0"/>
                    <a:pt x="3024632" y="42037"/>
                    <a:pt x="3024632" y="93853"/>
                  </a:cubicBezTo>
                  <a:lnTo>
                    <a:pt x="3024632" y="882523"/>
                  </a:lnTo>
                  <a:cubicBezTo>
                    <a:pt x="3024632" y="934339"/>
                    <a:pt x="2982595" y="976376"/>
                    <a:pt x="2930779" y="976376"/>
                  </a:cubicBezTo>
                  <a:lnTo>
                    <a:pt x="93853" y="976376"/>
                  </a:lnTo>
                  <a:cubicBezTo>
                    <a:pt x="42037" y="976376"/>
                    <a:pt x="0" y="934339"/>
                    <a:pt x="0" y="882523"/>
                  </a:cubicBezTo>
                  <a:close/>
                </a:path>
              </a:pathLst>
            </a:custGeom>
            <a:solidFill>
              <a:srgbClr val="FFF1E8"/>
            </a:solidFill>
            <a:ln w="19050" cap="sq">
              <a:solidFill>
                <a:srgbClr val="FDBA74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3523976" y="4992624"/>
            <a:ext cx="1645920" cy="219456"/>
            <a:chOff x="0" y="0"/>
            <a:chExt cx="2194560" cy="2926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" cy="292608"/>
            </a:xfrm>
            <a:custGeom>
              <a:avLst/>
              <a:gdLst/>
              <a:ahLst/>
              <a:cxnLst/>
              <a:rect r="r" b="b" t="t" l="l"/>
              <a:pathLst>
                <a:path h="29260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945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9731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Reorder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212699" y="5751195"/>
            <a:ext cx="2268474" cy="732282"/>
            <a:chOff x="0" y="0"/>
            <a:chExt cx="3024632" cy="9763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024632" cy="976376"/>
            </a:xfrm>
            <a:custGeom>
              <a:avLst/>
              <a:gdLst/>
              <a:ahLst/>
              <a:cxnLst/>
              <a:rect r="r" b="b" t="t" l="l"/>
              <a:pathLst>
                <a:path h="976376" w="3024632">
                  <a:moveTo>
                    <a:pt x="0" y="93853"/>
                  </a:moveTo>
                  <a:cubicBezTo>
                    <a:pt x="0" y="42037"/>
                    <a:pt x="42037" y="0"/>
                    <a:pt x="93853" y="0"/>
                  </a:cubicBezTo>
                  <a:lnTo>
                    <a:pt x="2930779" y="0"/>
                  </a:lnTo>
                  <a:cubicBezTo>
                    <a:pt x="2982595" y="0"/>
                    <a:pt x="3024632" y="42037"/>
                    <a:pt x="3024632" y="93853"/>
                  </a:cubicBezTo>
                  <a:lnTo>
                    <a:pt x="3024632" y="882523"/>
                  </a:lnTo>
                  <a:cubicBezTo>
                    <a:pt x="3024632" y="934339"/>
                    <a:pt x="2982595" y="976376"/>
                    <a:pt x="2930779" y="976376"/>
                  </a:cubicBezTo>
                  <a:lnTo>
                    <a:pt x="93853" y="976376"/>
                  </a:lnTo>
                  <a:cubicBezTo>
                    <a:pt x="42037" y="976376"/>
                    <a:pt x="0" y="934339"/>
                    <a:pt x="0" y="882523"/>
                  </a:cubicBezTo>
                  <a:close/>
                </a:path>
              </a:pathLst>
            </a:custGeom>
            <a:solidFill>
              <a:srgbClr val="EFF6FF"/>
            </a:solidFill>
            <a:ln w="19050" cap="sq">
              <a:solidFill>
                <a:srgbClr val="BFDBFE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3523976" y="5980176"/>
            <a:ext cx="1645920" cy="219456"/>
            <a:chOff x="0" y="0"/>
            <a:chExt cx="2194560" cy="2926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292608"/>
            </a:xfrm>
            <a:custGeom>
              <a:avLst/>
              <a:gdLst/>
              <a:ahLst/>
              <a:cxnLst/>
              <a:rect r="r" b="b" t="t" l="l"/>
              <a:pathLst>
                <a:path h="29260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1945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Checkout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2084832"/>
            <a:ext cx="9806940" cy="1947672"/>
            <a:chOff x="0" y="0"/>
            <a:chExt cx="13075920" cy="25968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075920" cy="2596896"/>
            </a:xfrm>
            <a:custGeom>
              <a:avLst/>
              <a:gdLst/>
              <a:ahLst/>
              <a:cxnLst/>
              <a:rect r="r" b="b" t="t" l="l"/>
              <a:pathLst>
                <a:path h="2596896" w="13075920">
                  <a:moveTo>
                    <a:pt x="0" y="0"/>
                  </a:moveTo>
                  <a:lnTo>
                    <a:pt x="13075920" y="0"/>
                  </a:lnTo>
                  <a:lnTo>
                    <a:pt x="13075920" y="2596896"/>
                  </a:lnTo>
                  <a:lnTo>
                    <a:pt x="0" y="2596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11" r="0" b="-4811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3075920" cy="2606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00"/>
                </a:lnSpc>
              </a:pPr>
              <a:r>
                <a:rPr lang="en-US" sz="52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Business Analysis concepts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69848" y="4347972"/>
            <a:ext cx="9395460" cy="754380"/>
            <a:chOff x="0" y="0"/>
            <a:chExt cx="12527280" cy="1005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5272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2527280">
                  <a:moveTo>
                    <a:pt x="0" y="0"/>
                  </a:moveTo>
                  <a:lnTo>
                    <a:pt x="12527280" y="0"/>
                  </a:lnTo>
                  <a:lnTo>
                    <a:pt x="125272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677" r="0" b="-19267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1252728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A visual introduction to five core Business Analysis concepts.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60323" y="5545455"/>
            <a:ext cx="3283458" cy="540258"/>
            <a:chOff x="0" y="0"/>
            <a:chExt cx="4377944" cy="7203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377944" cy="720344"/>
            </a:xfrm>
            <a:custGeom>
              <a:avLst/>
              <a:gdLst/>
              <a:ahLst/>
              <a:cxnLst/>
              <a:rect r="r" b="b" t="t" l="l"/>
              <a:pathLst>
                <a:path h="720344" w="4377944">
                  <a:moveTo>
                    <a:pt x="0" y="151638"/>
                  </a:moveTo>
                  <a:cubicBezTo>
                    <a:pt x="0" y="67945"/>
                    <a:pt x="67945" y="0"/>
                    <a:pt x="151638" y="0"/>
                  </a:cubicBezTo>
                  <a:lnTo>
                    <a:pt x="4226306" y="0"/>
                  </a:lnTo>
                  <a:cubicBezTo>
                    <a:pt x="4309999" y="0"/>
                    <a:pt x="4377944" y="67945"/>
                    <a:pt x="4377944" y="151638"/>
                  </a:cubicBezTo>
                  <a:lnTo>
                    <a:pt x="4377944" y="568706"/>
                  </a:lnTo>
                  <a:cubicBezTo>
                    <a:pt x="4377944" y="652399"/>
                    <a:pt x="4309999" y="720344"/>
                    <a:pt x="4226306" y="720344"/>
                  </a:cubicBezTo>
                  <a:lnTo>
                    <a:pt x="151638" y="720344"/>
                  </a:lnTo>
                  <a:cubicBezTo>
                    <a:pt x="67945" y="720344"/>
                    <a:pt x="0" y="652399"/>
                    <a:pt x="0" y="568706"/>
                  </a:cubicBezTo>
                  <a:close/>
                </a:path>
              </a:pathLst>
            </a:custGeom>
            <a:solidFill>
              <a:srgbClr val="FFF1E8"/>
            </a:solidFill>
            <a:ln w="19050" cap="sq">
              <a:solidFill>
                <a:srgbClr val="FFF1E8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07008" y="5637276"/>
            <a:ext cx="2990088" cy="274320"/>
            <a:chOff x="0" y="0"/>
            <a:chExt cx="3986784" cy="3657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86784" cy="365760"/>
            </a:xfrm>
            <a:custGeom>
              <a:avLst/>
              <a:gdLst/>
              <a:ahLst/>
              <a:cxnLst/>
              <a:rect r="r" b="b" t="t" l="l"/>
              <a:pathLst>
                <a:path h="365760" w="3986784">
                  <a:moveTo>
                    <a:pt x="0" y="0"/>
                  </a:moveTo>
                  <a:lnTo>
                    <a:pt x="3986784" y="0"/>
                  </a:lnTo>
                  <a:lnTo>
                    <a:pt x="398678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386" r="0" b="-16238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3986784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9731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ONE EXAMPLE THROUGHOUT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97280" y="6281928"/>
            <a:ext cx="9121140" cy="1028700"/>
            <a:chOff x="0" y="0"/>
            <a:chExt cx="12161520" cy="1371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1615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2161520">
                  <a:moveTo>
                    <a:pt x="0" y="0"/>
                  </a:moveTo>
                  <a:lnTo>
                    <a:pt x="12161520" y="0"/>
                  </a:lnTo>
                  <a:lnTo>
                    <a:pt x="121615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216152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Example: a returning customer wants to reorder a past meal in a food-delivery app.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7579340" y="9825228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94A3B8"/>
                </a:solidFill>
                <a:latin typeface="Aptos"/>
                <a:ea typeface="Aptos"/>
                <a:cs typeface="Aptos"/>
                <a:sym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56210"/>
            <a:chOff x="0" y="0"/>
            <a:chExt cx="24408790" cy="208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08280"/>
            </a:xfrm>
            <a:custGeom>
              <a:avLst/>
              <a:gdLst/>
              <a:ahLst/>
              <a:cxnLst/>
              <a:rect r="r" b="b" t="t" l="l"/>
              <a:pathLst>
                <a:path h="20828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08280"/>
                  </a:lnTo>
                  <a:lnTo>
                    <a:pt x="0" y="208280"/>
                  </a:lnTo>
                  <a:close/>
                </a:path>
              </a:pathLst>
            </a:custGeom>
            <a:solidFill>
              <a:srgbClr val="F97316"/>
            </a:solidFill>
            <a:ln w="1905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64108"/>
            <a:ext cx="16322040" cy="754380"/>
            <a:chOff x="0" y="0"/>
            <a:chExt cx="2176272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627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1585" r="0" b="-37158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76272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big picture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8972" y="1673352"/>
            <a:ext cx="15910560" cy="466344"/>
            <a:chOff x="0" y="0"/>
            <a:chExt cx="21214080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14080" cy="621792"/>
            </a:xfrm>
            <a:custGeom>
              <a:avLst/>
              <a:gdLst/>
              <a:ahLst/>
              <a:cxnLst/>
              <a:rect r="r" b="b" t="t" l="l"/>
              <a:pathLst>
                <a:path h="621792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4783" r="0" b="-61478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21408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Think of these five concepts as different levels of the same business problem.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78027" y="3035427"/>
            <a:ext cx="2789682" cy="3859530"/>
            <a:chOff x="0" y="0"/>
            <a:chExt cx="3719576" cy="5146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19576" cy="5146040"/>
            </a:xfrm>
            <a:custGeom>
              <a:avLst/>
              <a:gdLst/>
              <a:ahLst/>
              <a:cxnLst/>
              <a:rect r="r" b="b" t="t" l="l"/>
              <a:pathLst>
                <a:path h="5146040" w="3719576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3572256" y="0"/>
                  </a:lnTo>
                  <a:cubicBezTo>
                    <a:pt x="3653663" y="0"/>
                    <a:pt x="3719576" y="65913"/>
                    <a:pt x="3719576" y="147320"/>
                  </a:cubicBezTo>
                  <a:lnTo>
                    <a:pt x="3719576" y="4998720"/>
                  </a:lnTo>
                  <a:cubicBezTo>
                    <a:pt x="3719576" y="5080127"/>
                    <a:pt x="3653663" y="5146040"/>
                    <a:pt x="3572256" y="5146040"/>
                  </a:cubicBezTo>
                  <a:lnTo>
                    <a:pt x="147320" y="5146040"/>
                  </a:lnTo>
                  <a:cubicBezTo>
                    <a:pt x="65913" y="5146040"/>
                    <a:pt x="0" y="5080127"/>
                    <a:pt x="0" y="49987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979295" y="3446907"/>
            <a:ext cx="787146" cy="787146"/>
            <a:chOff x="0" y="0"/>
            <a:chExt cx="1049528" cy="10495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F97316"/>
            </a:solidFill>
            <a:ln w="1905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988820" y="3675888"/>
            <a:ext cx="768096" cy="233172"/>
            <a:chOff x="0" y="0"/>
            <a:chExt cx="1024128" cy="3108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" cy="310896"/>
            </a:xfrm>
            <a:custGeom>
              <a:avLst/>
              <a:gdLst/>
              <a:ahLst/>
              <a:cxnLst/>
              <a:rect r="r" b="b" t="t" l="l"/>
              <a:pathLst>
                <a:path h="310896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86" r="0" b="-1418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024128" cy="310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93292" y="4485132"/>
            <a:ext cx="2359152" cy="438912"/>
            <a:chOff x="0" y="0"/>
            <a:chExt cx="3145536" cy="5852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45536" cy="585216"/>
            </a:xfrm>
            <a:custGeom>
              <a:avLst/>
              <a:gdLst/>
              <a:ahLst/>
              <a:cxnLst/>
              <a:rect r="r" b="b" t="t" l="l"/>
              <a:pathLst>
                <a:path h="585216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3145536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Capability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79576" y="5157216"/>
            <a:ext cx="2386584" cy="521208"/>
            <a:chOff x="0" y="0"/>
            <a:chExt cx="3182112" cy="6949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82112" cy="694944"/>
            </a:xfrm>
            <a:custGeom>
              <a:avLst/>
              <a:gdLst/>
              <a:ahLst/>
              <a:cxnLst/>
              <a:rect r="r" b="b" t="t" l="l"/>
              <a:pathLst>
                <a:path h="694944" w="3182112">
                  <a:moveTo>
                    <a:pt x="0" y="0"/>
                  </a:moveTo>
                  <a:lnTo>
                    <a:pt x="3182112" y="0"/>
                  </a:lnTo>
                  <a:lnTo>
                    <a:pt x="3182112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20" r="0" b="-3922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3182112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4"/>
                </a:lnSpc>
              </a:pPr>
              <a:r>
                <a:rPr lang="en-US" sz="1470" b="true">
                  <a:solidFill>
                    <a:srgbClr val="F9731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WHAT can we do?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56335" y="5970651"/>
            <a:ext cx="2433066" cy="622554"/>
            <a:chOff x="0" y="0"/>
            <a:chExt cx="3244088" cy="8300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44088" cy="830072"/>
            </a:xfrm>
            <a:custGeom>
              <a:avLst/>
              <a:gdLst/>
              <a:ahLst/>
              <a:cxnLst/>
              <a:rect r="r" b="b" t="t" l="l"/>
              <a:pathLst>
                <a:path h="830072" w="3244088">
                  <a:moveTo>
                    <a:pt x="0" y="94361"/>
                  </a:moveTo>
                  <a:cubicBezTo>
                    <a:pt x="0" y="42291"/>
                    <a:pt x="42291" y="0"/>
                    <a:pt x="94361" y="0"/>
                  </a:cubicBezTo>
                  <a:lnTo>
                    <a:pt x="3149727" y="0"/>
                  </a:lnTo>
                  <a:cubicBezTo>
                    <a:pt x="3201797" y="0"/>
                    <a:pt x="3244088" y="42291"/>
                    <a:pt x="3244088" y="94361"/>
                  </a:cubicBezTo>
                  <a:lnTo>
                    <a:pt x="3244088" y="735711"/>
                  </a:lnTo>
                  <a:cubicBezTo>
                    <a:pt x="3244088" y="787781"/>
                    <a:pt x="3201797" y="830072"/>
                    <a:pt x="3149727" y="830072"/>
                  </a:cubicBezTo>
                  <a:lnTo>
                    <a:pt x="94361" y="830072"/>
                  </a:lnTo>
                  <a:cubicBezTo>
                    <a:pt x="42291" y="830072"/>
                    <a:pt x="0" y="787781"/>
                    <a:pt x="0" y="735711"/>
                  </a:cubicBezTo>
                  <a:close/>
                </a:path>
              </a:pathLst>
            </a:custGeom>
            <a:solidFill>
              <a:srgbClr val="FFF1E8"/>
            </a:solidFill>
            <a:ln w="19050" cap="sq">
              <a:solidFill>
                <a:srgbClr val="FFF1E8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61872" y="6158484"/>
            <a:ext cx="2221992" cy="205740"/>
            <a:chOff x="0" y="0"/>
            <a:chExt cx="2962656" cy="2743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962656" cy="274320"/>
            </a:xfrm>
            <a:custGeom>
              <a:avLst/>
              <a:gdLst/>
              <a:ahLst/>
              <a:cxnLst/>
              <a:rect r="r" b="b" t="t" l="l"/>
              <a:pathLst>
                <a:path h="27432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274320"/>
                  </a:lnTo>
                  <a:lnTo>
                    <a:pt x="0" y="274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438" r="0" b="-16043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2962656" cy="283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55"/>
                </a:lnSpc>
              </a:pPr>
              <a:r>
                <a:rPr lang="en-US" sz="1380" b="true">
                  <a:solidFill>
                    <a:srgbClr val="F9731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Online food ordering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817239" y="4722495"/>
            <a:ext cx="403098" cy="485394"/>
            <a:chOff x="0" y="0"/>
            <a:chExt cx="537464" cy="6471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7464" cy="647192"/>
            </a:xfrm>
            <a:custGeom>
              <a:avLst/>
              <a:gdLst/>
              <a:ahLst/>
              <a:cxnLst/>
              <a:rect r="r" b="b" t="t" l="l"/>
              <a:pathLst>
                <a:path h="647192" w="537464">
                  <a:moveTo>
                    <a:pt x="0" y="0"/>
                  </a:moveTo>
                  <a:lnTo>
                    <a:pt x="268732" y="0"/>
                  </a:lnTo>
                  <a:lnTo>
                    <a:pt x="537464" y="323596"/>
                  </a:lnTo>
                  <a:lnTo>
                    <a:pt x="268732" y="647192"/>
                  </a:lnTo>
                  <a:lnTo>
                    <a:pt x="0" y="647192"/>
                  </a:lnTo>
                  <a:lnTo>
                    <a:pt x="268732" y="323596"/>
                  </a:lnTo>
                  <a:close/>
                </a:path>
              </a:pathLst>
            </a:custGeom>
            <a:solidFill>
              <a:srgbClr val="CBD5E1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4324731" y="3035427"/>
            <a:ext cx="2789682" cy="3859530"/>
            <a:chOff x="0" y="0"/>
            <a:chExt cx="3719576" cy="51460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719576" cy="5146040"/>
            </a:xfrm>
            <a:custGeom>
              <a:avLst/>
              <a:gdLst/>
              <a:ahLst/>
              <a:cxnLst/>
              <a:rect r="r" b="b" t="t" l="l"/>
              <a:pathLst>
                <a:path h="5146040" w="3719576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3572256" y="0"/>
                  </a:lnTo>
                  <a:cubicBezTo>
                    <a:pt x="3653663" y="0"/>
                    <a:pt x="3719576" y="65913"/>
                    <a:pt x="3719576" y="147320"/>
                  </a:cubicBezTo>
                  <a:lnTo>
                    <a:pt x="3719576" y="4998720"/>
                  </a:lnTo>
                  <a:cubicBezTo>
                    <a:pt x="3719576" y="5080127"/>
                    <a:pt x="3653663" y="5146040"/>
                    <a:pt x="3572256" y="5146040"/>
                  </a:cubicBezTo>
                  <a:lnTo>
                    <a:pt x="147320" y="5146040"/>
                  </a:lnTo>
                  <a:cubicBezTo>
                    <a:pt x="65913" y="5146040"/>
                    <a:pt x="0" y="5080127"/>
                    <a:pt x="0" y="49987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5325999" y="3446907"/>
            <a:ext cx="787146" cy="787146"/>
            <a:chOff x="0" y="0"/>
            <a:chExt cx="1049528" cy="10495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335524" y="3675888"/>
            <a:ext cx="768096" cy="233172"/>
            <a:chOff x="0" y="0"/>
            <a:chExt cx="1024128" cy="31089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4128" cy="310896"/>
            </a:xfrm>
            <a:custGeom>
              <a:avLst/>
              <a:gdLst/>
              <a:ahLst/>
              <a:cxnLst/>
              <a:rect r="r" b="b" t="t" l="l"/>
              <a:pathLst>
                <a:path h="310896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86" r="0" b="-1418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1024128" cy="310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539996" y="4485132"/>
            <a:ext cx="2359152" cy="438912"/>
            <a:chOff x="0" y="0"/>
            <a:chExt cx="3145536" cy="5852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145536" cy="585216"/>
            </a:xfrm>
            <a:custGeom>
              <a:avLst/>
              <a:gdLst/>
              <a:ahLst/>
              <a:cxnLst/>
              <a:rect r="r" b="b" t="t" l="l"/>
              <a:pathLst>
                <a:path h="585216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145536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Process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526280" y="5157216"/>
            <a:ext cx="2386584" cy="521208"/>
            <a:chOff x="0" y="0"/>
            <a:chExt cx="3182112" cy="69494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182112" cy="694944"/>
            </a:xfrm>
            <a:custGeom>
              <a:avLst/>
              <a:gdLst/>
              <a:ahLst/>
              <a:cxnLst/>
              <a:rect r="r" b="b" t="t" l="l"/>
              <a:pathLst>
                <a:path h="694944" w="3182112">
                  <a:moveTo>
                    <a:pt x="0" y="0"/>
                  </a:moveTo>
                  <a:lnTo>
                    <a:pt x="3182112" y="0"/>
                  </a:lnTo>
                  <a:lnTo>
                    <a:pt x="3182112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20" r="0" b="-3922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3182112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4"/>
                </a:lnSpc>
              </a:pPr>
              <a:r>
                <a:rPr lang="en-US" sz="147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HOW do we do it?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503039" y="5970651"/>
            <a:ext cx="2433066" cy="622554"/>
            <a:chOff x="0" y="0"/>
            <a:chExt cx="3244088" cy="8300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244088" cy="830072"/>
            </a:xfrm>
            <a:custGeom>
              <a:avLst/>
              <a:gdLst/>
              <a:ahLst/>
              <a:cxnLst/>
              <a:rect r="r" b="b" t="t" l="l"/>
              <a:pathLst>
                <a:path h="830072" w="3244088">
                  <a:moveTo>
                    <a:pt x="0" y="94361"/>
                  </a:moveTo>
                  <a:cubicBezTo>
                    <a:pt x="0" y="42291"/>
                    <a:pt x="42291" y="0"/>
                    <a:pt x="94361" y="0"/>
                  </a:cubicBezTo>
                  <a:lnTo>
                    <a:pt x="3149727" y="0"/>
                  </a:lnTo>
                  <a:cubicBezTo>
                    <a:pt x="3201797" y="0"/>
                    <a:pt x="3244088" y="42291"/>
                    <a:pt x="3244088" y="94361"/>
                  </a:cubicBezTo>
                  <a:lnTo>
                    <a:pt x="3244088" y="735711"/>
                  </a:lnTo>
                  <a:cubicBezTo>
                    <a:pt x="3244088" y="787781"/>
                    <a:pt x="3201797" y="830072"/>
                    <a:pt x="3149727" y="830072"/>
                  </a:cubicBezTo>
                  <a:lnTo>
                    <a:pt x="94361" y="830072"/>
                  </a:lnTo>
                  <a:cubicBezTo>
                    <a:pt x="42291" y="830072"/>
                    <a:pt x="0" y="787781"/>
                    <a:pt x="0" y="735711"/>
                  </a:cubicBezTo>
                  <a:close/>
                </a:path>
              </a:pathLst>
            </a:custGeom>
            <a:solidFill>
              <a:srgbClr val="EFF6FF"/>
            </a:solidFill>
            <a:ln w="19050" cap="sq">
              <a:solidFill>
                <a:srgbClr val="EFF6FF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4608576" y="6158484"/>
            <a:ext cx="2221992" cy="205740"/>
            <a:chOff x="0" y="0"/>
            <a:chExt cx="2962656" cy="2743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962656" cy="274320"/>
            </a:xfrm>
            <a:custGeom>
              <a:avLst/>
              <a:gdLst/>
              <a:ahLst/>
              <a:cxnLst/>
              <a:rect r="r" b="b" t="t" l="l"/>
              <a:pathLst>
                <a:path h="27432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274320"/>
                  </a:lnTo>
                  <a:lnTo>
                    <a:pt x="0" y="274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438" r="0" b="-16043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2962656" cy="283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55"/>
                </a:lnSpc>
              </a:pPr>
              <a:r>
                <a:rPr lang="en-US" sz="138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Reorder past meal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163943" y="4722495"/>
            <a:ext cx="403098" cy="485394"/>
            <a:chOff x="0" y="0"/>
            <a:chExt cx="537464" cy="6471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37464" cy="647192"/>
            </a:xfrm>
            <a:custGeom>
              <a:avLst/>
              <a:gdLst/>
              <a:ahLst/>
              <a:cxnLst/>
              <a:rect r="r" b="b" t="t" l="l"/>
              <a:pathLst>
                <a:path h="647192" w="537464">
                  <a:moveTo>
                    <a:pt x="0" y="0"/>
                  </a:moveTo>
                  <a:lnTo>
                    <a:pt x="268732" y="0"/>
                  </a:lnTo>
                  <a:lnTo>
                    <a:pt x="537464" y="323596"/>
                  </a:lnTo>
                  <a:lnTo>
                    <a:pt x="268732" y="647192"/>
                  </a:lnTo>
                  <a:lnTo>
                    <a:pt x="0" y="647192"/>
                  </a:lnTo>
                  <a:lnTo>
                    <a:pt x="268732" y="323596"/>
                  </a:lnTo>
                  <a:close/>
                </a:path>
              </a:pathLst>
            </a:custGeom>
            <a:solidFill>
              <a:srgbClr val="CBD5E1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7671435" y="3035427"/>
            <a:ext cx="2789682" cy="3859530"/>
            <a:chOff x="0" y="0"/>
            <a:chExt cx="3719576" cy="5146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719576" cy="5146040"/>
            </a:xfrm>
            <a:custGeom>
              <a:avLst/>
              <a:gdLst/>
              <a:ahLst/>
              <a:cxnLst/>
              <a:rect r="r" b="b" t="t" l="l"/>
              <a:pathLst>
                <a:path h="5146040" w="3719576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3572256" y="0"/>
                  </a:lnTo>
                  <a:cubicBezTo>
                    <a:pt x="3653663" y="0"/>
                    <a:pt x="3719576" y="65913"/>
                    <a:pt x="3719576" y="147320"/>
                  </a:cubicBezTo>
                  <a:lnTo>
                    <a:pt x="3719576" y="4998720"/>
                  </a:lnTo>
                  <a:cubicBezTo>
                    <a:pt x="3719576" y="5080127"/>
                    <a:pt x="3653663" y="5146040"/>
                    <a:pt x="3572256" y="5146040"/>
                  </a:cubicBezTo>
                  <a:lnTo>
                    <a:pt x="147320" y="5146040"/>
                  </a:lnTo>
                  <a:cubicBezTo>
                    <a:pt x="65913" y="5146040"/>
                    <a:pt x="0" y="5080127"/>
                    <a:pt x="0" y="49987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8672703" y="3446907"/>
            <a:ext cx="787146" cy="787146"/>
            <a:chOff x="0" y="0"/>
            <a:chExt cx="1049528" cy="104952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8682228" y="3675888"/>
            <a:ext cx="768096" cy="233172"/>
            <a:chOff x="0" y="0"/>
            <a:chExt cx="1024128" cy="31089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24128" cy="310896"/>
            </a:xfrm>
            <a:custGeom>
              <a:avLst/>
              <a:gdLst/>
              <a:ahLst/>
              <a:cxnLst/>
              <a:rect r="r" b="b" t="t" l="l"/>
              <a:pathLst>
                <a:path h="310896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86" r="0" b="-1418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1024128" cy="310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886700" y="4485132"/>
            <a:ext cx="2359152" cy="438912"/>
            <a:chOff x="0" y="0"/>
            <a:chExt cx="3145536" cy="58521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145536" cy="585216"/>
            </a:xfrm>
            <a:custGeom>
              <a:avLst/>
              <a:gdLst/>
              <a:ahLst/>
              <a:cxnLst/>
              <a:rect r="r" b="b" t="t" l="l"/>
              <a:pathLst>
                <a:path h="585216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3145536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Persona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872984" y="5157216"/>
            <a:ext cx="2386584" cy="521208"/>
            <a:chOff x="0" y="0"/>
            <a:chExt cx="3182112" cy="69494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182112" cy="694944"/>
            </a:xfrm>
            <a:custGeom>
              <a:avLst/>
              <a:gdLst/>
              <a:ahLst/>
              <a:cxnLst/>
              <a:rect r="r" b="b" t="t" l="l"/>
              <a:pathLst>
                <a:path h="694944" w="3182112">
                  <a:moveTo>
                    <a:pt x="0" y="0"/>
                  </a:moveTo>
                  <a:lnTo>
                    <a:pt x="3182112" y="0"/>
                  </a:lnTo>
                  <a:lnTo>
                    <a:pt x="3182112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20" r="0" b="-3922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3182112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4"/>
                </a:lnSpc>
              </a:pPr>
              <a:r>
                <a:rPr lang="en-US" sz="1470" b="true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WHO needs it?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849743" y="5970651"/>
            <a:ext cx="2433066" cy="622554"/>
            <a:chOff x="0" y="0"/>
            <a:chExt cx="3244088" cy="83007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244088" cy="830072"/>
            </a:xfrm>
            <a:custGeom>
              <a:avLst/>
              <a:gdLst/>
              <a:ahLst/>
              <a:cxnLst/>
              <a:rect r="r" b="b" t="t" l="l"/>
              <a:pathLst>
                <a:path h="830072" w="3244088">
                  <a:moveTo>
                    <a:pt x="0" y="94361"/>
                  </a:moveTo>
                  <a:cubicBezTo>
                    <a:pt x="0" y="42291"/>
                    <a:pt x="42291" y="0"/>
                    <a:pt x="94361" y="0"/>
                  </a:cubicBezTo>
                  <a:lnTo>
                    <a:pt x="3149727" y="0"/>
                  </a:lnTo>
                  <a:cubicBezTo>
                    <a:pt x="3201797" y="0"/>
                    <a:pt x="3244088" y="42291"/>
                    <a:pt x="3244088" y="94361"/>
                  </a:cubicBezTo>
                  <a:lnTo>
                    <a:pt x="3244088" y="735711"/>
                  </a:lnTo>
                  <a:cubicBezTo>
                    <a:pt x="3244088" y="787781"/>
                    <a:pt x="3201797" y="830072"/>
                    <a:pt x="3149727" y="830072"/>
                  </a:cubicBezTo>
                  <a:lnTo>
                    <a:pt x="94361" y="830072"/>
                  </a:lnTo>
                  <a:cubicBezTo>
                    <a:pt x="42291" y="830072"/>
                    <a:pt x="0" y="787781"/>
                    <a:pt x="0" y="735711"/>
                  </a:cubicBezTo>
                  <a:close/>
                </a:path>
              </a:pathLst>
            </a:custGeom>
            <a:solidFill>
              <a:srgbClr val="F5F3FF"/>
            </a:solidFill>
            <a:ln w="19050" cap="sq">
              <a:solidFill>
                <a:srgbClr val="F5F3FF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7955280" y="6158484"/>
            <a:ext cx="2221992" cy="205740"/>
            <a:chOff x="0" y="0"/>
            <a:chExt cx="2962656" cy="2743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962656" cy="274320"/>
            </a:xfrm>
            <a:custGeom>
              <a:avLst/>
              <a:gdLst/>
              <a:ahLst/>
              <a:cxnLst/>
              <a:rect r="r" b="b" t="t" l="l"/>
              <a:pathLst>
                <a:path h="27432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274320"/>
                  </a:lnTo>
                  <a:lnTo>
                    <a:pt x="0" y="274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438" r="0" b="-16043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2962656" cy="283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55"/>
                </a:lnSpc>
              </a:pPr>
              <a:r>
                <a:rPr lang="en-US" sz="1380" b="true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Returning customer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510647" y="4722495"/>
            <a:ext cx="403098" cy="485394"/>
            <a:chOff x="0" y="0"/>
            <a:chExt cx="537464" cy="6471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37464" cy="647192"/>
            </a:xfrm>
            <a:custGeom>
              <a:avLst/>
              <a:gdLst/>
              <a:ahLst/>
              <a:cxnLst/>
              <a:rect r="r" b="b" t="t" l="l"/>
              <a:pathLst>
                <a:path h="647192" w="537464">
                  <a:moveTo>
                    <a:pt x="0" y="0"/>
                  </a:moveTo>
                  <a:lnTo>
                    <a:pt x="268732" y="0"/>
                  </a:lnTo>
                  <a:lnTo>
                    <a:pt x="537464" y="323596"/>
                  </a:lnTo>
                  <a:lnTo>
                    <a:pt x="268732" y="647192"/>
                  </a:lnTo>
                  <a:lnTo>
                    <a:pt x="0" y="647192"/>
                  </a:lnTo>
                  <a:lnTo>
                    <a:pt x="268732" y="323596"/>
                  </a:lnTo>
                  <a:close/>
                </a:path>
              </a:pathLst>
            </a:custGeom>
            <a:solidFill>
              <a:srgbClr val="CBD5E1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1018139" y="3035427"/>
            <a:ext cx="2789682" cy="3859530"/>
            <a:chOff x="0" y="0"/>
            <a:chExt cx="3719576" cy="51460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719576" cy="5146040"/>
            </a:xfrm>
            <a:custGeom>
              <a:avLst/>
              <a:gdLst/>
              <a:ahLst/>
              <a:cxnLst/>
              <a:rect r="r" b="b" t="t" l="l"/>
              <a:pathLst>
                <a:path h="5146040" w="3719576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3572256" y="0"/>
                  </a:lnTo>
                  <a:cubicBezTo>
                    <a:pt x="3653663" y="0"/>
                    <a:pt x="3719576" y="65913"/>
                    <a:pt x="3719576" y="147320"/>
                  </a:cubicBezTo>
                  <a:lnTo>
                    <a:pt x="3719576" y="4998720"/>
                  </a:lnTo>
                  <a:cubicBezTo>
                    <a:pt x="3719576" y="5080127"/>
                    <a:pt x="3653663" y="5146040"/>
                    <a:pt x="3572256" y="5146040"/>
                  </a:cubicBezTo>
                  <a:lnTo>
                    <a:pt x="147320" y="5146040"/>
                  </a:lnTo>
                  <a:cubicBezTo>
                    <a:pt x="65913" y="5146040"/>
                    <a:pt x="0" y="5080127"/>
                    <a:pt x="0" y="49987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2019407" y="3446907"/>
            <a:ext cx="787146" cy="787146"/>
            <a:chOff x="0" y="0"/>
            <a:chExt cx="1049528" cy="104952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16A34A"/>
            </a:solidFill>
            <a:ln w="1905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2028932" y="3675888"/>
            <a:ext cx="768096" cy="233172"/>
            <a:chOff x="0" y="0"/>
            <a:chExt cx="1024128" cy="31089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24128" cy="310896"/>
            </a:xfrm>
            <a:custGeom>
              <a:avLst/>
              <a:gdLst/>
              <a:ahLst/>
              <a:cxnLst/>
              <a:rect r="r" b="b" t="t" l="l"/>
              <a:pathLst>
                <a:path h="310896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86" r="0" b="-1418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1024128" cy="310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233404" y="4485132"/>
            <a:ext cx="2359152" cy="438912"/>
            <a:chOff x="0" y="0"/>
            <a:chExt cx="3145536" cy="58521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145536" cy="585216"/>
            </a:xfrm>
            <a:custGeom>
              <a:avLst/>
              <a:gdLst/>
              <a:ahLst/>
              <a:cxnLst/>
              <a:rect r="r" b="b" t="t" l="l"/>
              <a:pathLst>
                <a:path h="585216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3145536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 Story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219688" y="5157216"/>
            <a:ext cx="2386584" cy="521208"/>
            <a:chOff x="0" y="0"/>
            <a:chExt cx="3182112" cy="69494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182112" cy="694944"/>
            </a:xfrm>
            <a:custGeom>
              <a:avLst/>
              <a:gdLst/>
              <a:ahLst/>
              <a:cxnLst/>
              <a:rect r="r" b="b" t="t" l="l"/>
              <a:pathLst>
                <a:path h="694944" w="3182112">
                  <a:moveTo>
                    <a:pt x="0" y="0"/>
                  </a:moveTo>
                  <a:lnTo>
                    <a:pt x="3182112" y="0"/>
                  </a:lnTo>
                  <a:lnTo>
                    <a:pt x="3182112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20" r="0" b="-3922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3182112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4"/>
                </a:lnSpc>
              </a:pPr>
              <a:r>
                <a:rPr lang="en-US" sz="1470" b="true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WHAT do they want?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196447" y="5970651"/>
            <a:ext cx="2433066" cy="622554"/>
            <a:chOff x="0" y="0"/>
            <a:chExt cx="3244088" cy="83007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244088" cy="830072"/>
            </a:xfrm>
            <a:custGeom>
              <a:avLst/>
              <a:gdLst/>
              <a:ahLst/>
              <a:cxnLst/>
              <a:rect r="r" b="b" t="t" l="l"/>
              <a:pathLst>
                <a:path h="830072" w="3244088">
                  <a:moveTo>
                    <a:pt x="0" y="94361"/>
                  </a:moveTo>
                  <a:cubicBezTo>
                    <a:pt x="0" y="42291"/>
                    <a:pt x="42291" y="0"/>
                    <a:pt x="94361" y="0"/>
                  </a:cubicBezTo>
                  <a:lnTo>
                    <a:pt x="3149727" y="0"/>
                  </a:lnTo>
                  <a:cubicBezTo>
                    <a:pt x="3201797" y="0"/>
                    <a:pt x="3244088" y="42291"/>
                    <a:pt x="3244088" y="94361"/>
                  </a:cubicBezTo>
                  <a:lnTo>
                    <a:pt x="3244088" y="735711"/>
                  </a:lnTo>
                  <a:cubicBezTo>
                    <a:pt x="3244088" y="787781"/>
                    <a:pt x="3201797" y="830072"/>
                    <a:pt x="3149727" y="830072"/>
                  </a:cubicBezTo>
                  <a:lnTo>
                    <a:pt x="94361" y="830072"/>
                  </a:lnTo>
                  <a:cubicBezTo>
                    <a:pt x="42291" y="830072"/>
                    <a:pt x="0" y="787781"/>
                    <a:pt x="0" y="735711"/>
                  </a:cubicBezTo>
                  <a:close/>
                </a:path>
              </a:pathLst>
            </a:custGeom>
            <a:solidFill>
              <a:srgbClr val="F0FDF4"/>
            </a:solidFill>
            <a:ln w="19050" cap="sq">
              <a:solidFill>
                <a:srgbClr val="F0FDF4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1301984" y="6158484"/>
            <a:ext cx="2221992" cy="205740"/>
            <a:chOff x="0" y="0"/>
            <a:chExt cx="2962656" cy="2743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962656" cy="274320"/>
            </a:xfrm>
            <a:custGeom>
              <a:avLst/>
              <a:gdLst/>
              <a:ahLst/>
              <a:cxnLst/>
              <a:rect r="r" b="b" t="t" l="l"/>
              <a:pathLst>
                <a:path h="27432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274320"/>
                  </a:lnTo>
                  <a:lnTo>
                    <a:pt x="0" y="274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438" r="0" b="-160438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2962656" cy="283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55"/>
                </a:lnSpc>
              </a:pPr>
              <a:r>
                <a:rPr lang="en-US" sz="1380" b="true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Reorder quickly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3857351" y="4722495"/>
            <a:ext cx="403098" cy="485394"/>
            <a:chOff x="0" y="0"/>
            <a:chExt cx="537464" cy="64719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37464" cy="647192"/>
            </a:xfrm>
            <a:custGeom>
              <a:avLst/>
              <a:gdLst/>
              <a:ahLst/>
              <a:cxnLst/>
              <a:rect r="r" b="b" t="t" l="l"/>
              <a:pathLst>
                <a:path h="647192" w="537464">
                  <a:moveTo>
                    <a:pt x="0" y="0"/>
                  </a:moveTo>
                  <a:lnTo>
                    <a:pt x="268732" y="0"/>
                  </a:lnTo>
                  <a:lnTo>
                    <a:pt x="537464" y="323596"/>
                  </a:lnTo>
                  <a:lnTo>
                    <a:pt x="268732" y="647192"/>
                  </a:lnTo>
                  <a:lnTo>
                    <a:pt x="0" y="647192"/>
                  </a:lnTo>
                  <a:lnTo>
                    <a:pt x="268732" y="323596"/>
                  </a:lnTo>
                  <a:close/>
                </a:path>
              </a:pathLst>
            </a:custGeom>
            <a:solidFill>
              <a:srgbClr val="CBD5E1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4364843" y="3035427"/>
            <a:ext cx="2789682" cy="3859530"/>
            <a:chOff x="0" y="0"/>
            <a:chExt cx="3719576" cy="51460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719576" cy="5146040"/>
            </a:xfrm>
            <a:custGeom>
              <a:avLst/>
              <a:gdLst/>
              <a:ahLst/>
              <a:cxnLst/>
              <a:rect r="r" b="b" t="t" l="l"/>
              <a:pathLst>
                <a:path h="5146040" w="3719576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3572256" y="0"/>
                  </a:lnTo>
                  <a:cubicBezTo>
                    <a:pt x="3653663" y="0"/>
                    <a:pt x="3719576" y="65913"/>
                    <a:pt x="3719576" y="147320"/>
                  </a:cubicBezTo>
                  <a:lnTo>
                    <a:pt x="3719576" y="4998720"/>
                  </a:lnTo>
                  <a:cubicBezTo>
                    <a:pt x="3719576" y="5080127"/>
                    <a:pt x="3653663" y="5146040"/>
                    <a:pt x="3572256" y="5146040"/>
                  </a:cubicBezTo>
                  <a:lnTo>
                    <a:pt x="147320" y="5146040"/>
                  </a:lnTo>
                  <a:cubicBezTo>
                    <a:pt x="65913" y="5146040"/>
                    <a:pt x="0" y="5080127"/>
                    <a:pt x="0" y="49987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5366111" y="3446907"/>
            <a:ext cx="787146" cy="787146"/>
            <a:chOff x="0" y="0"/>
            <a:chExt cx="1049528" cy="104952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0F766E"/>
            </a:solidFill>
            <a:ln w="19050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5375636" y="3675888"/>
            <a:ext cx="768096" cy="233172"/>
            <a:chOff x="0" y="0"/>
            <a:chExt cx="1024128" cy="31089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024128" cy="310896"/>
            </a:xfrm>
            <a:custGeom>
              <a:avLst/>
              <a:gdLst/>
              <a:ahLst/>
              <a:cxnLst/>
              <a:rect r="r" b="b" t="t" l="l"/>
              <a:pathLst>
                <a:path h="310896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86" r="0" b="-14186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1024128" cy="310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4580108" y="4485132"/>
            <a:ext cx="2359152" cy="438912"/>
            <a:chOff x="0" y="0"/>
            <a:chExt cx="3145536" cy="58521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145536" cy="585216"/>
            </a:xfrm>
            <a:custGeom>
              <a:avLst/>
              <a:gdLst/>
              <a:ahLst/>
              <a:cxnLst/>
              <a:rect r="r" b="b" t="t" l="l"/>
              <a:pathLst>
                <a:path h="585216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3145536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Requirement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4566392" y="5157216"/>
            <a:ext cx="2386584" cy="521208"/>
            <a:chOff x="0" y="0"/>
            <a:chExt cx="3182112" cy="69494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182112" cy="694944"/>
            </a:xfrm>
            <a:custGeom>
              <a:avLst/>
              <a:gdLst/>
              <a:ahLst/>
              <a:cxnLst/>
              <a:rect r="r" b="b" t="t" l="l"/>
              <a:pathLst>
                <a:path h="694944" w="3182112">
                  <a:moveTo>
                    <a:pt x="0" y="0"/>
                  </a:moveTo>
                  <a:lnTo>
                    <a:pt x="3182112" y="0"/>
                  </a:lnTo>
                  <a:lnTo>
                    <a:pt x="3182112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20" r="0" b="-3922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3182112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4"/>
                </a:lnSpc>
              </a:pPr>
              <a:r>
                <a:rPr lang="en-US" sz="1470" b="true">
                  <a:solidFill>
                    <a:srgbClr val="0F766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WHAT must be true?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4543151" y="5970651"/>
            <a:ext cx="2433066" cy="622554"/>
            <a:chOff x="0" y="0"/>
            <a:chExt cx="3244088" cy="83007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244088" cy="830072"/>
            </a:xfrm>
            <a:custGeom>
              <a:avLst/>
              <a:gdLst/>
              <a:ahLst/>
              <a:cxnLst/>
              <a:rect r="r" b="b" t="t" l="l"/>
              <a:pathLst>
                <a:path h="830072" w="3244088">
                  <a:moveTo>
                    <a:pt x="0" y="94361"/>
                  </a:moveTo>
                  <a:cubicBezTo>
                    <a:pt x="0" y="42291"/>
                    <a:pt x="42291" y="0"/>
                    <a:pt x="94361" y="0"/>
                  </a:cubicBezTo>
                  <a:lnTo>
                    <a:pt x="3149727" y="0"/>
                  </a:lnTo>
                  <a:cubicBezTo>
                    <a:pt x="3201797" y="0"/>
                    <a:pt x="3244088" y="42291"/>
                    <a:pt x="3244088" y="94361"/>
                  </a:cubicBezTo>
                  <a:lnTo>
                    <a:pt x="3244088" y="735711"/>
                  </a:lnTo>
                  <a:cubicBezTo>
                    <a:pt x="3244088" y="787781"/>
                    <a:pt x="3201797" y="830072"/>
                    <a:pt x="3149727" y="830072"/>
                  </a:cubicBezTo>
                  <a:lnTo>
                    <a:pt x="94361" y="830072"/>
                  </a:lnTo>
                  <a:cubicBezTo>
                    <a:pt x="42291" y="830072"/>
                    <a:pt x="0" y="787781"/>
                    <a:pt x="0" y="735711"/>
                  </a:cubicBezTo>
                  <a:close/>
                </a:path>
              </a:pathLst>
            </a:custGeom>
            <a:solidFill>
              <a:srgbClr val="F0FDFA"/>
            </a:solidFill>
            <a:ln w="19050" cap="sq">
              <a:solidFill>
                <a:srgbClr val="F0FDFA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14648688" y="6158484"/>
            <a:ext cx="2221992" cy="205740"/>
            <a:chOff x="0" y="0"/>
            <a:chExt cx="2962656" cy="27432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962656" cy="274320"/>
            </a:xfrm>
            <a:custGeom>
              <a:avLst/>
              <a:gdLst/>
              <a:ahLst/>
              <a:cxnLst/>
              <a:rect r="r" b="b" t="t" l="l"/>
              <a:pathLst>
                <a:path h="27432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274320"/>
                  </a:lnTo>
                  <a:lnTo>
                    <a:pt x="0" y="274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438" r="0" b="-160438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9525"/>
              <a:ext cx="2962656" cy="283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55"/>
                </a:lnSpc>
              </a:pPr>
              <a:r>
                <a:rPr lang="en-US" sz="1380" b="true">
                  <a:solidFill>
                    <a:srgbClr val="0F766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System supports reorder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2253615" y="7698867"/>
            <a:ext cx="13735050" cy="1088898"/>
            <a:chOff x="0" y="0"/>
            <a:chExt cx="18313400" cy="1451864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8313400" cy="1451737"/>
            </a:xfrm>
            <a:custGeom>
              <a:avLst/>
              <a:gdLst/>
              <a:ahLst/>
              <a:cxnLst/>
              <a:rect r="r" b="b" t="t" l="l"/>
              <a:pathLst>
                <a:path h="1451737" w="18313400">
                  <a:moveTo>
                    <a:pt x="0" y="111633"/>
                  </a:moveTo>
                  <a:cubicBezTo>
                    <a:pt x="0" y="50038"/>
                    <a:pt x="50038" y="0"/>
                    <a:pt x="111633" y="0"/>
                  </a:cubicBezTo>
                  <a:lnTo>
                    <a:pt x="18201767" y="0"/>
                  </a:lnTo>
                  <a:cubicBezTo>
                    <a:pt x="18263488" y="0"/>
                    <a:pt x="18313400" y="50038"/>
                    <a:pt x="18313400" y="111633"/>
                  </a:cubicBezTo>
                  <a:lnTo>
                    <a:pt x="18313400" y="1340104"/>
                  </a:lnTo>
                  <a:cubicBezTo>
                    <a:pt x="18313400" y="1401826"/>
                    <a:pt x="18263361" y="1451737"/>
                    <a:pt x="18201767" y="1451737"/>
                  </a:cubicBezTo>
                  <a:lnTo>
                    <a:pt x="111633" y="1451737"/>
                  </a:lnTo>
                  <a:cubicBezTo>
                    <a:pt x="49911" y="1451737"/>
                    <a:pt x="0" y="1401699"/>
                    <a:pt x="0" y="1340104"/>
                  </a:cubicBezTo>
                  <a:close/>
                </a:path>
              </a:pathLst>
            </a:custGeom>
            <a:solidFill>
              <a:srgbClr val="F1F5F9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2743200" y="8065008"/>
            <a:ext cx="12755880" cy="301752"/>
            <a:chOff x="0" y="0"/>
            <a:chExt cx="17007840" cy="40233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7007839" cy="402336"/>
            </a:xfrm>
            <a:custGeom>
              <a:avLst/>
              <a:gdLst/>
              <a:ahLst/>
              <a:cxnLst/>
              <a:rect r="r" b="b" t="t" l="l"/>
              <a:pathLst>
                <a:path h="402336" w="17007839">
                  <a:moveTo>
                    <a:pt x="0" y="0"/>
                  </a:moveTo>
                  <a:lnTo>
                    <a:pt x="17007839" y="0"/>
                  </a:lnTo>
                  <a:lnTo>
                    <a:pt x="17007839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685" r="0" b="-77368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1700784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Memory shortcut:  WHAT → HOW → WHO → NEED → SPECIFICATION</a:t>
              </a:r>
            </a:p>
          </p:txBody>
        </p:sp>
      </p:grpSp>
      <p:sp>
        <p:nvSpPr>
          <p:cNvPr name="TextBox 113" id="113"/>
          <p:cNvSpPr txBox="true"/>
          <p:nvPr/>
        </p:nvSpPr>
        <p:spPr>
          <a:xfrm rot="0">
            <a:off x="17579340" y="9825228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94A3B8"/>
                </a:solidFill>
                <a:latin typeface="Aptos"/>
                <a:ea typeface="Aptos"/>
                <a:cs typeface="Aptos"/>
                <a:sym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56210"/>
            <a:chOff x="0" y="0"/>
            <a:chExt cx="24408790" cy="208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08280"/>
            </a:xfrm>
            <a:custGeom>
              <a:avLst/>
              <a:gdLst/>
              <a:ahLst/>
              <a:cxnLst/>
              <a:rect r="r" b="b" t="t" l="l"/>
              <a:pathLst>
                <a:path h="20828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08280"/>
                  </a:lnTo>
                  <a:lnTo>
                    <a:pt x="0" y="208280"/>
                  </a:lnTo>
                  <a:close/>
                </a:path>
              </a:pathLst>
            </a:custGeom>
            <a:solidFill>
              <a:srgbClr val="F97316"/>
            </a:solidFill>
            <a:ln w="1905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64108"/>
            <a:ext cx="16322040" cy="754380"/>
            <a:chOff x="0" y="0"/>
            <a:chExt cx="2176272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627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1585" r="0" b="-37158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76272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1-2. Capability and Process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8972" y="1673352"/>
            <a:ext cx="15910560" cy="466344"/>
            <a:chOff x="0" y="0"/>
            <a:chExt cx="21214080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14080" cy="621792"/>
            </a:xfrm>
            <a:custGeom>
              <a:avLst/>
              <a:gdLst/>
              <a:ahLst/>
              <a:cxnLst/>
              <a:rect r="r" b="b" t="t" l="l"/>
              <a:pathLst>
                <a:path h="621792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4783" r="0" b="-61478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21408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Capability is the ability. Process is the repeatable sequence that uses that ability.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77074" y="2526983"/>
            <a:ext cx="7839075" cy="5987415"/>
            <a:chOff x="0" y="0"/>
            <a:chExt cx="10452100" cy="79832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52100" cy="7983220"/>
            </a:xfrm>
            <a:custGeom>
              <a:avLst/>
              <a:gdLst/>
              <a:ahLst/>
              <a:cxnLst/>
              <a:rect r="r" b="b" t="t" l="l"/>
              <a:pathLst>
                <a:path h="7983220" w="1045210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10305288" y="0"/>
                  </a:lnTo>
                  <a:cubicBezTo>
                    <a:pt x="10386314" y="0"/>
                    <a:pt x="10452100" y="65786"/>
                    <a:pt x="10452100" y="146812"/>
                  </a:cubicBezTo>
                  <a:lnTo>
                    <a:pt x="10452100" y="7836408"/>
                  </a:lnTo>
                  <a:cubicBezTo>
                    <a:pt x="10452100" y="7917434"/>
                    <a:pt x="10386314" y="7983220"/>
                    <a:pt x="10305288" y="7983220"/>
                  </a:cubicBezTo>
                  <a:lnTo>
                    <a:pt x="146812" y="7983220"/>
                  </a:lnTo>
                  <a:cubicBezTo>
                    <a:pt x="65786" y="7983220"/>
                    <a:pt x="0" y="7917434"/>
                    <a:pt x="0" y="7836408"/>
                  </a:cubicBezTo>
                  <a:close/>
                </a:path>
              </a:pathLst>
            </a:custGeom>
            <a:solidFill>
              <a:srgbClr val="FFFFFF"/>
            </a:solidFill>
            <a:ln w="2095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24915" y="2774823"/>
            <a:ext cx="595122" cy="595122"/>
            <a:chOff x="0" y="0"/>
            <a:chExt cx="793496" cy="7934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93496" cy="793496"/>
            </a:xfrm>
            <a:custGeom>
              <a:avLst/>
              <a:gdLst/>
              <a:ahLst/>
              <a:cxnLst/>
              <a:rect r="r" b="b" t="t" l="l"/>
              <a:pathLst>
                <a:path h="793496" w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cubicBezTo>
                    <a:pt x="615823" y="0"/>
                    <a:pt x="793496" y="177673"/>
                    <a:pt x="793496" y="396748"/>
                  </a:cubicBezTo>
                  <a:cubicBezTo>
                    <a:pt x="793496" y="615823"/>
                    <a:pt x="615823" y="793496"/>
                    <a:pt x="396748" y="793496"/>
                  </a:cubicBez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F97316"/>
            </a:solidFill>
            <a:ln w="1905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34440" y="2887218"/>
            <a:ext cx="576072" cy="219456"/>
            <a:chOff x="0" y="0"/>
            <a:chExt cx="768096" cy="2926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8096" cy="292608"/>
            </a:xfrm>
            <a:custGeom>
              <a:avLst/>
              <a:gdLst/>
              <a:ahLst/>
              <a:cxnLst/>
              <a:rect r="r" b="b" t="t" l="l"/>
              <a:pathLst>
                <a:path h="292608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8" r="0" b="-114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768096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75104" y="2770632"/>
            <a:ext cx="6583680" cy="411480"/>
            <a:chOff x="0" y="0"/>
            <a:chExt cx="877824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778240" cy="548640"/>
            </a:xfrm>
            <a:custGeom>
              <a:avLst/>
              <a:gdLst/>
              <a:ahLst/>
              <a:cxnLst/>
              <a:rect r="r" b="b" t="t" l="l"/>
              <a:pathLst>
                <a:path h="5486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87782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Capability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24915" y="3597783"/>
            <a:ext cx="7343394" cy="540258"/>
            <a:chOff x="0" y="0"/>
            <a:chExt cx="9791192" cy="7203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91192" cy="720344"/>
            </a:xfrm>
            <a:custGeom>
              <a:avLst/>
              <a:gdLst/>
              <a:ahLst/>
              <a:cxnLst/>
              <a:rect r="r" b="b" t="t" l="l"/>
              <a:pathLst>
                <a:path h="720344" w="9791192">
                  <a:moveTo>
                    <a:pt x="0" y="151638"/>
                  </a:moveTo>
                  <a:cubicBezTo>
                    <a:pt x="0" y="67945"/>
                    <a:pt x="67945" y="0"/>
                    <a:pt x="151638" y="0"/>
                  </a:cubicBezTo>
                  <a:lnTo>
                    <a:pt x="9639554" y="0"/>
                  </a:lnTo>
                  <a:cubicBezTo>
                    <a:pt x="9723248" y="0"/>
                    <a:pt x="9791192" y="67945"/>
                    <a:pt x="9791192" y="151638"/>
                  </a:cubicBezTo>
                  <a:lnTo>
                    <a:pt x="9791192" y="568706"/>
                  </a:lnTo>
                  <a:cubicBezTo>
                    <a:pt x="9791192" y="652399"/>
                    <a:pt x="9723248" y="720344"/>
                    <a:pt x="9639554" y="720344"/>
                  </a:cubicBezTo>
                  <a:lnTo>
                    <a:pt x="151638" y="720344"/>
                  </a:lnTo>
                  <a:cubicBezTo>
                    <a:pt x="67945" y="720344"/>
                    <a:pt x="0" y="652399"/>
                    <a:pt x="0" y="568706"/>
                  </a:cubicBezTo>
                  <a:close/>
                </a:path>
              </a:pathLst>
            </a:custGeom>
            <a:solidFill>
              <a:srgbClr val="FFF1E8"/>
            </a:solidFill>
            <a:ln w="19050" cap="sq">
              <a:solidFill>
                <a:srgbClr val="FFF1E8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71600" y="3689604"/>
            <a:ext cx="7050024" cy="274320"/>
            <a:chOff x="0" y="0"/>
            <a:chExt cx="9400032" cy="365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400032" cy="365760"/>
            </a:xfrm>
            <a:custGeom>
              <a:avLst/>
              <a:gdLst/>
              <a:ahLst/>
              <a:cxnLst/>
              <a:rect r="r" b="b" t="t" l="l"/>
              <a:pathLst>
                <a:path h="365760" w="9400032">
                  <a:moveTo>
                    <a:pt x="0" y="0"/>
                  </a:moveTo>
                  <a:lnTo>
                    <a:pt x="9400032" y="0"/>
                  </a:lnTo>
                  <a:lnTo>
                    <a:pt x="9400032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0765" r="0" b="-45076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9400032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9731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WHAT is the business able to do?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89304" y="4389120"/>
            <a:ext cx="7214616" cy="3840480"/>
            <a:chOff x="0" y="0"/>
            <a:chExt cx="9619488" cy="5120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619488" cy="5120640"/>
            </a:xfrm>
            <a:custGeom>
              <a:avLst/>
              <a:gdLst/>
              <a:ahLst/>
              <a:cxnLst/>
              <a:rect r="r" b="b" t="t" l="l"/>
              <a:pathLst>
                <a:path h="5120640" w="9619488">
                  <a:moveTo>
                    <a:pt x="0" y="0"/>
                  </a:moveTo>
                  <a:lnTo>
                    <a:pt x="9619488" y="0"/>
                  </a:lnTo>
                  <a:lnTo>
                    <a:pt x="9619488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298" t="0" r="-18298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9619488" cy="5120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Example: ONLINE FOOD ORDERING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A capability describes an ability the organisation needs, not the detailed steps, screen design, or technology.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480994" y="2526983"/>
            <a:ext cx="7839075" cy="5987415"/>
            <a:chOff x="0" y="0"/>
            <a:chExt cx="10452100" cy="79832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452100" cy="7983220"/>
            </a:xfrm>
            <a:custGeom>
              <a:avLst/>
              <a:gdLst/>
              <a:ahLst/>
              <a:cxnLst/>
              <a:rect r="r" b="b" t="t" l="l"/>
              <a:pathLst>
                <a:path h="7983220" w="1045210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10305288" y="0"/>
                  </a:lnTo>
                  <a:cubicBezTo>
                    <a:pt x="10386314" y="0"/>
                    <a:pt x="10452100" y="65786"/>
                    <a:pt x="10452100" y="146812"/>
                  </a:cubicBezTo>
                  <a:lnTo>
                    <a:pt x="10452100" y="7836408"/>
                  </a:lnTo>
                  <a:cubicBezTo>
                    <a:pt x="10452100" y="7917434"/>
                    <a:pt x="10386314" y="7983220"/>
                    <a:pt x="10305288" y="7983220"/>
                  </a:cubicBezTo>
                  <a:lnTo>
                    <a:pt x="146812" y="7983220"/>
                  </a:lnTo>
                  <a:cubicBezTo>
                    <a:pt x="65786" y="7983220"/>
                    <a:pt x="0" y="7917434"/>
                    <a:pt x="0" y="7836408"/>
                  </a:cubicBezTo>
                  <a:close/>
                </a:path>
              </a:pathLst>
            </a:custGeom>
            <a:solidFill>
              <a:srgbClr val="FFFFFF"/>
            </a:solidFill>
            <a:ln w="2095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728835" y="2774823"/>
            <a:ext cx="595122" cy="595122"/>
            <a:chOff x="0" y="0"/>
            <a:chExt cx="793496" cy="7934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93496" cy="793496"/>
            </a:xfrm>
            <a:custGeom>
              <a:avLst/>
              <a:gdLst/>
              <a:ahLst/>
              <a:cxnLst/>
              <a:rect r="r" b="b" t="t" l="l"/>
              <a:pathLst>
                <a:path h="793496" w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cubicBezTo>
                    <a:pt x="615823" y="0"/>
                    <a:pt x="793496" y="177673"/>
                    <a:pt x="793496" y="396748"/>
                  </a:cubicBezTo>
                  <a:cubicBezTo>
                    <a:pt x="793496" y="615823"/>
                    <a:pt x="615823" y="793496"/>
                    <a:pt x="396748" y="793496"/>
                  </a:cubicBez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738360" y="2887218"/>
            <a:ext cx="576072" cy="219456"/>
            <a:chOff x="0" y="0"/>
            <a:chExt cx="768096" cy="2926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8096" cy="292608"/>
            </a:xfrm>
            <a:custGeom>
              <a:avLst/>
              <a:gdLst/>
              <a:ahLst/>
              <a:cxnLst/>
              <a:rect r="r" b="b" t="t" l="l"/>
              <a:pathLst>
                <a:path h="292608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8" r="0" b="-114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768096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479024" y="2770632"/>
            <a:ext cx="6583680" cy="411480"/>
            <a:chOff x="0" y="0"/>
            <a:chExt cx="877824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778240" cy="548640"/>
            </a:xfrm>
            <a:custGeom>
              <a:avLst/>
              <a:gdLst/>
              <a:ahLst/>
              <a:cxnLst/>
              <a:rect r="r" b="b" t="t" l="l"/>
              <a:pathLst>
                <a:path h="5486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87782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Process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728835" y="3597783"/>
            <a:ext cx="7343394" cy="540258"/>
            <a:chOff x="0" y="0"/>
            <a:chExt cx="9791192" cy="72034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91192" cy="720344"/>
            </a:xfrm>
            <a:custGeom>
              <a:avLst/>
              <a:gdLst/>
              <a:ahLst/>
              <a:cxnLst/>
              <a:rect r="r" b="b" t="t" l="l"/>
              <a:pathLst>
                <a:path h="720344" w="9791192">
                  <a:moveTo>
                    <a:pt x="0" y="151638"/>
                  </a:moveTo>
                  <a:cubicBezTo>
                    <a:pt x="0" y="67945"/>
                    <a:pt x="67945" y="0"/>
                    <a:pt x="151638" y="0"/>
                  </a:cubicBezTo>
                  <a:lnTo>
                    <a:pt x="9639554" y="0"/>
                  </a:lnTo>
                  <a:cubicBezTo>
                    <a:pt x="9723248" y="0"/>
                    <a:pt x="9791192" y="67945"/>
                    <a:pt x="9791192" y="151638"/>
                  </a:cubicBezTo>
                  <a:lnTo>
                    <a:pt x="9791192" y="568706"/>
                  </a:lnTo>
                  <a:cubicBezTo>
                    <a:pt x="9791192" y="652399"/>
                    <a:pt x="9723248" y="720344"/>
                    <a:pt x="9639554" y="720344"/>
                  </a:cubicBezTo>
                  <a:lnTo>
                    <a:pt x="151638" y="720344"/>
                  </a:lnTo>
                  <a:cubicBezTo>
                    <a:pt x="67945" y="720344"/>
                    <a:pt x="0" y="652399"/>
                    <a:pt x="0" y="568706"/>
                  </a:cubicBezTo>
                  <a:close/>
                </a:path>
              </a:pathLst>
            </a:custGeom>
            <a:solidFill>
              <a:srgbClr val="EFF6FF"/>
            </a:solidFill>
            <a:ln w="19050" cap="sq">
              <a:solidFill>
                <a:srgbClr val="EFF6F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875520" y="3689604"/>
            <a:ext cx="7050024" cy="274320"/>
            <a:chOff x="0" y="0"/>
            <a:chExt cx="9400032" cy="3657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400032" cy="365760"/>
            </a:xfrm>
            <a:custGeom>
              <a:avLst/>
              <a:gdLst/>
              <a:ahLst/>
              <a:cxnLst/>
              <a:rect r="r" b="b" t="t" l="l"/>
              <a:pathLst>
                <a:path h="365760" w="9400032">
                  <a:moveTo>
                    <a:pt x="0" y="0"/>
                  </a:moveTo>
                  <a:lnTo>
                    <a:pt x="9400032" y="0"/>
                  </a:lnTo>
                  <a:lnTo>
                    <a:pt x="9400032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0765" r="0" b="-45076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9400032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HOW is that capability performed?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793224" y="4389120"/>
            <a:ext cx="7214616" cy="3840480"/>
            <a:chOff x="0" y="0"/>
            <a:chExt cx="9619488" cy="5120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619488" cy="5120640"/>
            </a:xfrm>
            <a:custGeom>
              <a:avLst/>
              <a:gdLst/>
              <a:ahLst/>
              <a:cxnLst/>
              <a:rect r="r" b="b" t="t" l="l"/>
              <a:pathLst>
                <a:path h="5120640" w="9619488">
                  <a:moveTo>
                    <a:pt x="0" y="0"/>
                  </a:moveTo>
                  <a:lnTo>
                    <a:pt x="9619488" y="0"/>
                  </a:lnTo>
                  <a:lnTo>
                    <a:pt x="9619488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298" t="0" r="-18298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9619488" cy="5120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Example: REORDER A PAST MEAL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A process has a trigger, a sequence of activities/decisions, and an outcome.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577340" y="7584948"/>
            <a:ext cx="1645920" cy="315468"/>
            <a:chOff x="0" y="0"/>
            <a:chExt cx="2194560" cy="42062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94560" cy="420624"/>
            </a:xfrm>
            <a:custGeom>
              <a:avLst/>
              <a:gdLst/>
              <a:ahLst/>
              <a:cxnLst/>
              <a:rect r="r" b="b" t="t" l="l"/>
              <a:pathLst>
                <a:path h="42062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61" r="0" b="-5166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219456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9731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Capability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907792" y="7584948"/>
            <a:ext cx="3703320" cy="315468"/>
            <a:chOff x="0" y="0"/>
            <a:chExt cx="4937760" cy="42062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937760" cy="420624"/>
            </a:xfrm>
            <a:custGeom>
              <a:avLst/>
              <a:gdLst/>
              <a:ahLst/>
              <a:cxnLst/>
              <a:rect r="r" b="b" t="t" l="l"/>
              <a:pathLst>
                <a:path h="42062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737" r="0" b="-17873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493776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is broader and more stable.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094976" y="7584948"/>
            <a:ext cx="1303020" cy="315468"/>
            <a:chOff x="0" y="0"/>
            <a:chExt cx="1737360" cy="42062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737360" cy="420624"/>
            </a:xfrm>
            <a:custGeom>
              <a:avLst/>
              <a:gdLst/>
              <a:ahLst/>
              <a:cxnLst/>
              <a:rect r="r" b="b" t="t" l="l"/>
              <a:pathLst>
                <a:path h="420624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81" r="0" b="-3048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173736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Process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274552" y="7584948"/>
            <a:ext cx="4114800" cy="315468"/>
            <a:chOff x="0" y="0"/>
            <a:chExt cx="5486400" cy="42062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486400" cy="420624"/>
            </a:xfrm>
            <a:custGeom>
              <a:avLst/>
              <a:gdLst/>
              <a:ahLst/>
              <a:cxnLst/>
              <a:rect r="r" b="b" t="t" l="l"/>
              <a:pathLst>
                <a:path h="42062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152" r="0" b="-20415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548640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describes the actual flow of work.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7579340" y="9825228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94A3B8"/>
                </a:solidFill>
                <a:latin typeface="Aptos"/>
                <a:ea typeface="Aptos"/>
                <a:cs typeface="Aptos"/>
                <a:sym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56210"/>
            <a:chOff x="0" y="0"/>
            <a:chExt cx="24408790" cy="208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08280"/>
            </a:xfrm>
            <a:custGeom>
              <a:avLst/>
              <a:gdLst/>
              <a:ahLst/>
              <a:cxnLst/>
              <a:rect r="r" b="b" t="t" l="l"/>
              <a:pathLst>
                <a:path h="20828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08280"/>
                  </a:lnTo>
                  <a:lnTo>
                    <a:pt x="0" y="208280"/>
                  </a:lnTo>
                  <a:close/>
                </a:path>
              </a:pathLst>
            </a:custGeom>
            <a:solidFill>
              <a:srgbClr val="F97316"/>
            </a:solidFill>
            <a:ln w="1905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64108"/>
            <a:ext cx="16322040" cy="754380"/>
            <a:chOff x="0" y="0"/>
            <a:chExt cx="2176272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627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1585" r="0" b="-37158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76272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Process example: Reorder Past Meal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8972" y="1673352"/>
            <a:ext cx="15910560" cy="466344"/>
            <a:chOff x="0" y="0"/>
            <a:chExt cx="21214080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14080" cy="621792"/>
            </a:xfrm>
            <a:custGeom>
              <a:avLst/>
              <a:gdLst/>
              <a:ahLst/>
              <a:cxnLst/>
              <a:rect r="r" b="b" t="t" l="l"/>
              <a:pathLst>
                <a:path h="621792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4783" r="0" b="-61478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21408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A process turns a capability into an actual sequence of work.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44702" y="4144518"/>
            <a:ext cx="2148840" cy="1284732"/>
            <a:chOff x="0" y="0"/>
            <a:chExt cx="2865120" cy="17129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65120" cy="1712976"/>
            </a:xfrm>
            <a:custGeom>
              <a:avLst/>
              <a:gdLst/>
              <a:ahLst/>
              <a:cxnLst/>
              <a:rect r="r" b="b" t="t" l="l"/>
              <a:pathLst>
                <a:path h="1712976" w="2865120">
                  <a:moveTo>
                    <a:pt x="0" y="93091"/>
                  </a:moveTo>
                  <a:cubicBezTo>
                    <a:pt x="0" y="41656"/>
                    <a:pt x="41656" y="0"/>
                    <a:pt x="93091" y="0"/>
                  </a:cubicBezTo>
                  <a:lnTo>
                    <a:pt x="2772029" y="0"/>
                  </a:lnTo>
                  <a:cubicBezTo>
                    <a:pt x="2823464" y="0"/>
                    <a:pt x="2865120" y="41656"/>
                    <a:pt x="2865120" y="93091"/>
                  </a:cubicBezTo>
                  <a:lnTo>
                    <a:pt x="2865120" y="1619885"/>
                  </a:lnTo>
                  <a:cubicBezTo>
                    <a:pt x="2865120" y="1671320"/>
                    <a:pt x="2823464" y="1712976"/>
                    <a:pt x="2772029" y="1712976"/>
                  </a:cubicBezTo>
                  <a:lnTo>
                    <a:pt x="93091" y="1712976"/>
                  </a:lnTo>
                  <a:cubicBezTo>
                    <a:pt x="41656" y="1712976"/>
                    <a:pt x="0" y="1671320"/>
                    <a:pt x="0" y="1619885"/>
                  </a:cubicBezTo>
                  <a:close/>
                </a:path>
              </a:pathLst>
            </a:custGeom>
            <a:solidFill>
              <a:srgbClr val="EFF6FF"/>
            </a:solidFill>
            <a:ln w="2286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20724" y="4430268"/>
            <a:ext cx="1796796" cy="576072"/>
            <a:chOff x="0" y="0"/>
            <a:chExt cx="2395728" cy="7680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95728" cy="768096"/>
            </a:xfrm>
            <a:custGeom>
              <a:avLst/>
              <a:gdLst/>
              <a:ahLst/>
              <a:cxnLst/>
              <a:rect r="r" b="b" t="t" l="l"/>
              <a:pathLst>
                <a:path h="768096" w="2395728">
                  <a:moveTo>
                    <a:pt x="0" y="0"/>
                  </a:moveTo>
                  <a:lnTo>
                    <a:pt x="2395728" y="0"/>
                  </a:lnTo>
                  <a:lnTo>
                    <a:pt x="239572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74" r="0" b="-1077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395728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Open order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history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3166873" y="4771643"/>
            <a:ext cx="644612" cy="0"/>
          </a:xfrm>
          <a:prstGeom prst="line">
            <a:avLst/>
          </a:prstGeom>
          <a:ln cap="rnd" w="19050">
            <a:solidFill>
              <a:srgbClr val="94A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3746754" y="4144518"/>
            <a:ext cx="2286000" cy="1284732"/>
            <a:chOff x="0" y="0"/>
            <a:chExt cx="3048000" cy="17129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48000" cy="1712976"/>
            </a:xfrm>
            <a:custGeom>
              <a:avLst/>
              <a:gdLst/>
              <a:ahLst/>
              <a:cxnLst/>
              <a:rect r="r" b="b" t="t" l="l"/>
              <a:pathLst>
                <a:path h="1712976" w="3048000">
                  <a:moveTo>
                    <a:pt x="0" y="93091"/>
                  </a:moveTo>
                  <a:cubicBezTo>
                    <a:pt x="0" y="41656"/>
                    <a:pt x="41656" y="0"/>
                    <a:pt x="93091" y="0"/>
                  </a:cubicBezTo>
                  <a:lnTo>
                    <a:pt x="2954909" y="0"/>
                  </a:lnTo>
                  <a:cubicBezTo>
                    <a:pt x="3006344" y="0"/>
                    <a:pt x="3048000" y="41656"/>
                    <a:pt x="3048000" y="93091"/>
                  </a:cubicBezTo>
                  <a:lnTo>
                    <a:pt x="3048000" y="1619885"/>
                  </a:lnTo>
                  <a:cubicBezTo>
                    <a:pt x="3048000" y="1671320"/>
                    <a:pt x="3006344" y="1712976"/>
                    <a:pt x="2954909" y="1712976"/>
                  </a:cubicBezTo>
                  <a:lnTo>
                    <a:pt x="93091" y="1712976"/>
                  </a:lnTo>
                  <a:cubicBezTo>
                    <a:pt x="41656" y="1712976"/>
                    <a:pt x="0" y="1671320"/>
                    <a:pt x="0" y="1619885"/>
                  </a:cubicBezTo>
                  <a:close/>
                </a:path>
              </a:pathLst>
            </a:custGeom>
            <a:solidFill>
              <a:srgbClr val="EFF6FF"/>
            </a:solidFill>
            <a:ln w="2286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3922776" y="4430268"/>
            <a:ext cx="1933956" cy="576072"/>
            <a:chOff x="0" y="0"/>
            <a:chExt cx="2578608" cy="7680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78608" cy="768096"/>
            </a:xfrm>
            <a:custGeom>
              <a:avLst/>
              <a:gdLst/>
              <a:ahLst/>
              <a:cxnLst/>
              <a:rect r="r" b="b" t="t" l="l"/>
              <a:pathLst>
                <a:path h="768096" w="2578608">
                  <a:moveTo>
                    <a:pt x="0" y="0"/>
                  </a:moveTo>
                  <a:lnTo>
                    <a:pt x="2578608" y="0"/>
                  </a:lnTo>
                  <a:lnTo>
                    <a:pt x="257860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14" r="0" b="-1541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578608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Select previous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order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6005283" y="4847082"/>
            <a:ext cx="579920" cy="0"/>
          </a:xfrm>
          <a:prstGeom prst="line">
            <a:avLst/>
          </a:prstGeom>
          <a:ln cap="rnd" w="19050">
            <a:solidFill>
              <a:srgbClr val="94A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6583108" y="4004500"/>
            <a:ext cx="2360295" cy="1647063"/>
            <a:chOff x="0" y="0"/>
            <a:chExt cx="3147060" cy="21960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47060" cy="2196084"/>
            </a:xfrm>
            <a:custGeom>
              <a:avLst/>
              <a:gdLst/>
              <a:ahLst/>
              <a:cxnLst/>
              <a:rect r="r" b="b" t="t" l="l"/>
              <a:pathLst>
                <a:path h="2196084" w="3147060">
                  <a:moveTo>
                    <a:pt x="0" y="1098042"/>
                  </a:moveTo>
                  <a:lnTo>
                    <a:pt x="1573530" y="0"/>
                  </a:lnTo>
                  <a:lnTo>
                    <a:pt x="3147060" y="1098042"/>
                  </a:lnTo>
                  <a:lnTo>
                    <a:pt x="1573530" y="2196084"/>
                  </a:lnTo>
                  <a:close/>
                </a:path>
              </a:pathLst>
            </a:custGeom>
            <a:solidFill>
              <a:srgbClr val="FFFBEB"/>
            </a:solidFill>
            <a:ln w="28575" cap="sq">
              <a:solidFill>
                <a:srgbClr val="FCD34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932295" y="4498848"/>
            <a:ext cx="1837944" cy="576072"/>
            <a:chOff x="0" y="0"/>
            <a:chExt cx="2450592" cy="7680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50592" cy="768096"/>
            </a:xfrm>
            <a:custGeom>
              <a:avLst/>
              <a:gdLst/>
              <a:ahLst/>
              <a:cxnLst/>
              <a:rect r="r" b="b" t="t" l="l"/>
              <a:pathLst>
                <a:path h="768096" w="2450592">
                  <a:moveTo>
                    <a:pt x="0" y="0"/>
                  </a:moveTo>
                  <a:lnTo>
                    <a:pt x="2450592" y="0"/>
                  </a:lnTo>
                  <a:lnTo>
                    <a:pt x="2450592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66" r="0" b="-1216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2450592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Check item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availability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8913838" y="4837557"/>
            <a:ext cx="579920" cy="0"/>
          </a:xfrm>
          <a:prstGeom prst="line">
            <a:avLst/>
          </a:prstGeom>
          <a:ln cap="rnd" w="19050">
            <a:solidFill>
              <a:srgbClr val="94A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8" id="28"/>
          <p:cNvGrpSpPr/>
          <p:nvPr/>
        </p:nvGrpSpPr>
        <p:grpSpPr>
          <a:xfrm rot="0">
            <a:off x="9493758" y="4144518"/>
            <a:ext cx="2491740" cy="1284732"/>
            <a:chOff x="0" y="0"/>
            <a:chExt cx="3322320" cy="171297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322320" cy="1712976"/>
            </a:xfrm>
            <a:custGeom>
              <a:avLst/>
              <a:gdLst/>
              <a:ahLst/>
              <a:cxnLst/>
              <a:rect r="r" b="b" t="t" l="l"/>
              <a:pathLst>
                <a:path h="1712976" w="3322320">
                  <a:moveTo>
                    <a:pt x="0" y="93091"/>
                  </a:moveTo>
                  <a:cubicBezTo>
                    <a:pt x="0" y="41656"/>
                    <a:pt x="41656" y="0"/>
                    <a:pt x="93091" y="0"/>
                  </a:cubicBezTo>
                  <a:lnTo>
                    <a:pt x="3229229" y="0"/>
                  </a:lnTo>
                  <a:cubicBezTo>
                    <a:pt x="3280664" y="0"/>
                    <a:pt x="3322320" y="41656"/>
                    <a:pt x="3322320" y="93091"/>
                  </a:cubicBezTo>
                  <a:lnTo>
                    <a:pt x="3322320" y="1619885"/>
                  </a:lnTo>
                  <a:cubicBezTo>
                    <a:pt x="3322320" y="1671320"/>
                    <a:pt x="3280664" y="1712976"/>
                    <a:pt x="3229229" y="1712976"/>
                  </a:cubicBezTo>
                  <a:lnTo>
                    <a:pt x="93091" y="1712976"/>
                  </a:lnTo>
                  <a:cubicBezTo>
                    <a:pt x="41656" y="1712976"/>
                    <a:pt x="0" y="1671320"/>
                    <a:pt x="0" y="1619885"/>
                  </a:cubicBezTo>
                  <a:close/>
                </a:path>
              </a:pathLst>
            </a:custGeom>
            <a:solidFill>
              <a:srgbClr val="F0FDF4"/>
            </a:solidFill>
            <a:ln w="2286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669780" y="4430268"/>
            <a:ext cx="2139696" cy="576072"/>
            <a:chOff x="0" y="0"/>
            <a:chExt cx="2852928" cy="7680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852928" cy="768096"/>
            </a:xfrm>
            <a:custGeom>
              <a:avLst/>
              <a:gdLst/>
              <a:ahLst/>
              <a:cxnLst/>
              <a:rect r="r" b="b" t="t" l="l"/>
              <a:pathLst>
                <a:path h="768096" w="2852928">
                  <a:moveTo>
                    <a:pt x="0" y="0"/>
                  </a:moveTo>
                  <a:lnTo>
                    <a:pt x="2852928" y="0"/>
                  </a:lnTo>
                  <a:lnTo>
                    <a:pt x="285292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72" r="0" b="-2237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852928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Add available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items to cart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>
            <a:off x="11958428" y="4786884"/>
            <a:ext cx="579920" cy="0"/>
          </a:xfrm>
          <a:prstGeom prst="line">
            <a:avLst/>
          </a:prstGeom>
          <a:ln cap="rnd" w="19050">
            <a:solidFill>
              <a:srgbClr val="94A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4" id="34"/>
          <p:cNvGrpSpPr/>
          <p:nvPr/>
        </p:nvGrpSpPr>
        <p:grpSpPr>
          <a:xfrm rot="0">
            <a:off x="12538710" y="4144518"/>
            <a:ext cx="2011680" cy="1284732"/>
            <a:chOff x="0" y="0"/>
            <a:chExt cx="2682240" cy="171297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682240" cy="1712976"/>
            </a:xfrm>
            <a:custGeom>
              <a:avLst/>
              <a:gdLst/>
              <a:ahLst/>
              <a:cxnLst/>
              <a:rect r="r" b="b" t="t" l="l"/>
              <a:pathLst>
                <a:path h="1712976" w="2682240">
                  <a:moveTo>
                    <a:pt x="0" y="93091"/>
                  </a:moveTo>
                  <a:cubicBezTo>
                    <a:pt x="0" y="41656"/>
                    <a:pt x="41656" y="0"/>
                    <a:pt x="93091" y="0"/>
                  </a:cubicBezTo>
                  <a:lnTo>
                    <a:pt x="2589149" y="0"/>
                  </a:lnTo>
                  <a:cubicBezTo>
                    <a:pt x="2640584" y="0"/>
                    <a:pt x="2682240" y="41656"/>
                    <a:pt x="2682240" y="93091"/>
                  </a:cubicBezTo>
                  <a:lnTo>
                    <a:pt x="2682240" y="1619885"/>
                  </a:lnTo>
                  <a:cubicBezTo>
                    <a:pt x="2682240" y="1671320"/>
                    <a:pt x="2640584" y="1712976"/>
                    <a:pt x="2589149" y="1712976"/>
                  </a:cubicBezTo>
                  <a:lnTo>
                    <a:pt x="93091" y="1712976"/>
                  </a:lnTo>
                  <a:cubicBezTo>
                    <a:pt x="41656" y="1712976"/>
                    <a:pt x="0" y="1671320"/>
                    <a:pt x="0" y="1619885"/>
                  </a:cubicBezTo>
                  <a:close/>
                </a:path>
              </a:pathLst>
            </a:custGeom>
            <a:solidFill>
              <a:srgbClr val="F0FDF4"/>
            </a:solidFill>
            <a:ln w="2286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714732" y="4430268"/>
            <a:ext cx="1659636" cy="576072"/>
            <a:chOff x="0" y="0"/>
            <a:chExt cx="2212848" cy="7680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12848" cy="768096"/>
            </a:xfrm>
            <a:custGeom>
              <a:avLst/>
              <a:gdLst/>
              <a:ahLst/>
              <a:cxnLst/>
              <a:rect r="r" b="b" t="t" l="l"/>
              <a:pathLst>
                <a:path h="768096" w="2212848">
                  <a:moveTo>
                    <a:pt x="0" y="0"/>
                  </a:moveTo>
                  <a:lnTo>
                    <a:pt x="2212848" y="0"/>
                  </a:lnTo>
                  <a:lnTo>
                    <a:pt x="221284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5" r="0" b="-613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212848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Review cart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>
            <a:off x="14523320" y="4786884"/>
            <a:ext cx="579920" cy="0"/>
          </a:xfrm>
          <a:prstGeom prst="line">
            <a:avLst/>
          </a:prstGeom>
          <a:ln cap="rnd" w="19050">
            <a:solidFill>
              <a:srgbClr val="94A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0" id="40"/>
          <p:cNvGrpSpPr/>
          <p:nvPr/>
        </p:nvGrpSpPr>
        <p:grpSpPr>
          <a:xfrm rot="0">
            <a:off x="15103602" y="4144518"/>
            <a:ext cx="1874520" cy="1284732"/>
            <a:chOff x="0" y="0"/>
            <a:chExt cx="2499360" cy="171297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99360" cy="1712976"/>
            </a:xfrm>
            <a:custGeom>
              <a:avLst/>
              <a:gdLst/>
              <a:ahLst/>
              <a:cxnLst/>
              <a:rect r="r" b="b" t="t" l="l"/>
              <a:pathLst>
                <a:path h="1712976" w="2499360">
                  <a:moveTo>
                    <a:pt x="0" y="93091"/>
                  </a:moveTo>
                  <a:cubicBezTo>
                    <a:pt x="0" y="41656"/>
                    <a:pt x="41656" y="0"/>
                    <a:pt x="93091" y="0"/>
                  </a:cubicBezTo>
                  <a:lnTo>
                    <a:pt x="2406269" y="0"/>
                  </a:lnTo>
                  <a:cubicBezTo>
                    <a:pt x="2457704" y="0"/>
                    <a:pt x="2499360" y="41656"/>
                    <a:pt x="2499360" y="93091"/>
                  </a:cubicBezTo>
                  <a:lnTo>
                    <a:pt x="2499360" y="1619885"/>
                  </a:lnTo>
                  <a:cubicBezTo>
                    <a:pt x="2499360" y="1671320"/>
                    <a:pt x="2457704" y="1712976"/>
                    <a:pt x="2406269" y="1712976"/>
                  </a:cubicBezTo>
                  <a:lnTo>
                    <a:pt x="93091" y="1712976"/>
                  </a:lnTo>
                  <a:cubicBezTo>
                    <a:pt x="41656" y="1712976"/>
                    <a:pt x="0" y="1671320"/>
                    <a:pt x="0" y="1619885"/>
                  </a:cubicBezTo>
                  <a:close/>
                </a:path>
              </a:pathLst>
            </a:custGeom>
            <a:solidFill>
              <a:srgbClr val="FFF1E8"/>
            </a:solidFill>
            <a:ln w="2286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5279624" y="4430268"/>
            <a:ext cx="1522476" cy="576072"/>
            <a:chOff x="0" y="0"/>
            <a:chExt cx="2029968" cy="7680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29968" cy="768096"/>
            </a:xfrm>
            <a:custGeom>
              <a:avLst/>
              <a:gdLst/>
              <a:ahLst/>
              <a:cxnLst/>
              <a:rect r="r" b="b" t="t" l="l"/>
              <a:pathLst>
                <a:path h="768096" w="2029968">
                  <a:moveTo>
                    <a:pt x="0" y="0"/>
                  </a:moveTo>
                  <a:lnTo>
                    <a:pt x="2029968" y="0"/>
                  </a:lnTo>
                  <a:lnTo>
                    <a:pt x="202996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6" r="0" b="-149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2029968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9731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Checkout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585203" y="5651564"/>
            <a:ext cx="2378202" cy="2039234"/>
            <a:chOff x="0" y="0"/>
            <a:chExt cx="3170936" cy="2718979"/>
          </a:xfrm>
        </p:grpSpPr>
        <p:sp>
          <p:nvSpPr>
            <p:cNvPr name="AutoShape 46" id="46"/>
            <p:cNvSpPr/>
            <p:nvPr/>
          </p:nvSpPr>
          <p:spPr>
            <a:xfrm rot="5310840">
              <a:off x="899947" y="679105"/>
              <a:ext cx="1371041" cy="0"/>
            </a:xfrm>
            <a:prstGeom prst="line">
              <a:avLst/>
            </a:prstGeom>
            <a:ln cap="rnd" w="12700">
              <a:solidFill>
                <a:srgbClr val="DC2626"/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47" id="47"/>
            <p:cNvGrpSpPr/>
            <p:nvPr/>
          </p:nvGrpSpPr>
          <p:grpSpPr>
            <a:xfrm rot="0">
              <a:off x="0" y="1376843"/>
              <a:ext cx="3170936" cy="1342136"/>
              <a:chOff x="0" y="0"/>
              <a:chExt cx="3170936" cy="1342136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3170936" cy="1342136"/>
              </a:xfrm>
              <a:custGeom>
                <a:avLst/>
                <a:gdLst/>
                <a:ahLst/>
                <a:cxnLst/>
                <a:rect r="r" b="b" t="t" l="l"/>
                <a:pathLst>
                  <a:path h="1342136" w="3170936">
                    <a:moveTo>
                      <a:pt x="0" y="74549"/>
                    </a:moveTo>
                    <a:cubicBezTo>
                      <a:pt x="0" y="33401"/>
                      <a:pt x="33401" y="0"/>
                      <a:pt x="74549" y="0"/>
                    </a:cubicBezTo>
                    <a:lnTo>
                      <a:pt x="3096387" y="0"/>
                    </a:lnTo>
                    <a:cubicBezTo>
                      <a:pt x="3137535" y="0"/>
                      <a:pt x="3170936" y="33401"/>
                      <a:pt x="3170936" y="74549"/>
                    </a:cubicBezTo>
                    <a:lnTo>
                      <a:pt x="3170936" y="1267587"/>
                    </a:lnTo>
                    <a:cubicBezTo>
                      <a:pt x="3170936" y="1308735"/>
                      <a:pt x="3137535" y="1342136"/>
                      <a:pt x="3096387" y="1342136"/>
                    </a:cubicBezTo>
                    <a:lnTo>
                      <a:pt x="74549" y="1342136"/>
                    </a:lnTo>
                    <a:cubicBezTo>
                      <a:pt x="33401" y="1342136"/>
                      <a:pt x="0" y="1308735"/>
                      <a:pt x="0" y="1267587"/>
                    </a:cubicBezTo>
                    <a:close/>
                  </a:path>
                </a:pathLst>
              </a:custGeom>
              <a:solidFill>
                <a:srgbClr val="FEF2F2"/>
              </a:solidFill>
              <a:ln w="19050" cap="sq">
                <a:solidFill>
                  <a:srgbClr val="FCA5A5"/>
                </a:solidFill>
                <a:prstDash val="solid"/>
                <a:miter/>
              </a:ln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305308" y="1737015"/>
              <a:ext cx="2560320" cy="621792"/>
              <a:chOff x="0" y="0"/>
              <a:chExt cx="2560320" cy="621792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560320" cy="621792"/>
              </a:xfrm>
              <a:custGeom>
                <a:avLst/>
                <a:gdLst/>
                <a:ahLst/>
                <a:cxnLst/>
                <a:rect r="r" b="b" t="t" l="l"/>
                <a:pathLst>
                  <a:path h="621792" w="2560320">
                    <a:moveTo>
                      <a:pt x="0" y="0"/>
                    </a:moveTo>
                    <a:lnTo>
                      <a:pt x="2560320" y="0"/>
                    </a:lnTo>
                    <a:lnTo>
                      <a:pt x="2560320" y="621792"/>
                    </a:lnTo>
                    <a:lnTo>
                      <a:pt x="0" y="6217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0232" r="0" b="-30232"/>
                </a:stretch>
              </a:blip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0"/>
                <a:ext cx="2560320" cy="62179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709"/>
                  </a:lnSpc>
                </a:pPr>
                <a:r>
                  <a:rPr lang="en-US" sz="1425" b="true">
                    <a:solidFill>
                      <a:srgbClr val="DC262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Show unavailable</a:t>
                </a:r>
              </a:p>
              <a:p>
                <a:pPr algn="ctr">
                  <a:lnSpc>
                    <a:spcPts val="1709"/>
                  </a:lnSpc>
                </a:pPr>
                <a:r>
                  <a:rPr lang="en-US" sz="1425" b="true">
                    <a:solidFill>
                      <a:srgbClr val="DC262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item message</a:t>
                </a: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1804924" y="475143"/>
              <a:ext cx="658368" cy="329184"/>
              <a:chOff x="0" y="0"/>
              <a:chExt cx="658368" cy="329184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658368" cy="329184"/>
              </a:xfrm>
              <a:custGeom>
                <a:avLst/>
                <a:gdLst/>
                <a:ahLst/>
                <a:cxnLst/>
                <a:rect r="r" b="b" t="t" l="l"/>
                <a:pathLst>
                  <a:path h="329184" w="658368">
                    <a:moveTo>
                      <a:pt x="0" y="0"/>
                    </a:moveTo>
                    <a:lnTo>
                      <a:pt x="658368" y="0"/>
                    </a:lnTo>
                    <a:lnTo>
                      <a:pt x="658368" y="329184"/>
                    </a:lnTo>
                    <a:lnTo>
                      <a:pt x="0" y="3291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4151" t="0" r="-14151" b="0"/>
                </a:stretch>
              </a:blip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9525"/>
                <a:ext cx="658368" cy="33870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620"/>
                  </a:lnSpc>
                </a:pPr>
                <a:r>
                  <a:rPr lang="en-US" sz="1350" b="true">
                    <a:solidFill>
                      <a:srgbClr val="DC262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No</a:t>
                </a:r>
              </a:p>
            </p:txBody>
          </p:sp>
        </p:grpSp>
      </p:grpSp>
      <p:grpSp>
        <p:nvGrpSpPr>
          <p:cNvPr name="Group 55" id="55"/>
          <p:cNvGrpSpPr/>
          <p:nvPr/>
        </p:nvGrpSpPr>
        <p:grpSpPr>
          <a:xfrm rot="0">
            <a:off x="8985409" y="4524755"/>
            <a:ext cx="466344" cy="246888"/>
            <a:chOff x="0" y="0"/>
            <a:chExt cx="621792" cy="32918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21792" cy="329184"/>
            </a:xfrm>
            <a:custGeom>
              <a:avLst/>
              <a:gdLst/>
              <a:ahLst/>
              <a:cxnLst/>
              <a:rect r="r" b="b" t="t" l="l"/>
              <a:pathLst>
                <a:path h="329184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5" t="0" r="-17925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621792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Yes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403223" y="8357235"/>
            <a:ext cx="15586710" cy="732282"/>
            <a:chOff x="0" y="0"/>
            <a:chExt cx="20782280" cy="97637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0782280" cy="976376"/>
            </a:xfrm>
            <a:custGeom>
              <a:avLst/>
              <a:gdLst/>
              <a:ahLst/>
              <a:cxnLst/>
              <a:rect r="r" b="b" t="t" l="l"/>
              <a:pathLst>
                <a:path h="976376" w="20782280">
                  <a:moveTo>
                    <a:pt x="0" y="75057"/>
                  </a:moveTo>
                  <a:cubicBezTo>
                    <a:pt x="0" y="33655"/>
                    <a:pt x="33655" y="0"/>
                    <a:pt x="75057" y="0"/>
                  </a:cubicBezTo>
                  <a:lnTo>
                    <a:pt x="20707223" y="0"/>
                  </a:lnTo>
                  <a:cubicBezTo>
                    <a:pt x="20748752" y="0"/>
                    <a:pt x="20782280" y="33655"/>
                    <a:pt x="20782280" y="75057"/>
                  </a:cubicBezTo>
                  <a:lnTo>
                    <a:pt x="20782280" y="901319"/>
                  </a:lnTo>
                  <a:cubicBezTo>
                    <a:pt x="20782280" y="942848"/>
                    <a:pt x="20748625" y="976376"/>
                    <a:pt x="20707223" y="976376"/>
                  </a:cubicBezTo>
                  <a:lnTo>
                    <a:pt x="75057" y="976376"/>
                  </a:lnTo>
                  <a:cubicBezTo>
                    <a:pt x="33655" y="976376"/>
                    <a:pt x="0" y="942721"/>
                    <a:pt x="0" y="90131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687068" y="8586216"/>
            <a:ext cx="15019020" cy="246888"/>
            <a:chOff x="0" y="0"/>
            <a:chExt cx="20025360" cy="32918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025361" cy="329184"/>
            </a:xfrm>
            <a:custGeom>
              <a:avLst/>
              <a:gdLst/>
              <a:ahLst/>
              <a:cxnLst/>
              <a:rect r="r" b="b" t="t" l="l"/>
              <a:pathLst>
                <a:path h="329184" w="20025361">
                  <a:moveTo>
                    <a:pt x="0" y="0"/>
                  </a:moveTo>
                  <a:lnTo>
                    <a:pt x="20025361" y="0"/>
                  </a:lnTo>
                  <a:lnTo>
                    <a:pt x="20025361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5339" r="0" b="-113533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20025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Key idea:  Capability = “we can support online ordering.”  Process = “these are the steps used to reorder.”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7579340" y="9825228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94A3B8"/>
                </a:solidFill>
                <a:latin typeface="Aptos"/>
                <a:ea typeface="Aptos"/>
                <a:cs typeface="Aptos"/>
                <a:sym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56210"/>
            <a:chOff x="0" y="0"/>
            <a:chExt cx="24408790" cy="208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08280"/>
            </a:xfrm>
            <a:custGeom>
              <a:avLst/>
              <a:gdLst/>
              <a:ahLst/>
              <a:cxnLst/>
              <a:rect r="r" b="b" t="t" l="l"/>
              <a:pathLst>
                <a:path h="20828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08280"/>
                  </a:lnTo>
                  <a:lnTo>
                    <a:pt x="0" y="208280"/>
                  </a:lnTo>
                  <a:close/>
                </a:path>
              </a:pathLst>
            </a:custGeom>
            <a:solidFill>
              <a:srgbClr val="F97316"/>
            </a:solidFill>
            <a:ln w="1905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64108"/>
            <a:ext cx="16322040" cy="754380"/>
            <a:chOff x="0" y="0"/>
            <a:chExt cx="2176272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627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1585" r="0" b="-37158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76272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3. Persona - who are we solving for?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8972" y="1673352"/>
            <a:ext cx="15910560" cy="466344"/>
            <a:chOff x="0" y="0"/>
            <a:chExt cx="21214080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14080" cy="621792"/>
            </a:xfrm>
            <a:custGeom>
              <a:avLst/>
              <a:gdLst/>
              <a:ahLst/>
              <a:cxnLst/>
              <a:rect r="r" b="b" t="t" l="l"/>
              <a:pathLst>
                <a:path h="621792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4783" r="0" b="-61478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21408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A persona is a representative user profile that helps the team understand goals, context and pain points.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54430" y="2430018"/>
            <a:ext cx="5715000" cy="6400800"/>
            <a:chOff x="0" y="0"/>
            <a:chExt cx="7620000" cy="853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762000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7473061" y="0"/>
                  </a:lnTo>
                  <a:cubicBezTo>
                    <a:pt x="7554214" y="0"/>
                    <a:pt x="7620000" y="65786"/>
                    <a:pt x="7620000" y="146939"/>
                  </a:cubicBezTo>
                  <a:lnTo>
                    <a:pt x="7620000" y="8387461"/>
                  </a:lnTo>
                  <a:cubicBezTo>
                    <a:pt x="7620000" y="8468614"/>
                    <a:pt x="7554214" y="8534400"/>
                    <a:pt x="7473061" y="8534400"/>
                  </a:cubicBezTo>
                  <a:lnTo>
                    <a:pt x="146939" y="8534400"/>
                  </a:lnTo>
                  <a:cubicBezTo>
                    <a:pt x="65786" y="8534400"/>
                    <a:pt x="0" y="8468614"/>
                    <a:pt x="0" y="8387461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DDD6FE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2939415" y="2939415"/>
            <a:ext cx="2145030" cy="2145030"/>
            <a:chOff x="0" y="0"/>
            <a:chExt cx="2860040" cy="2860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60040" cy="2860040"/>
            </a:xfrm>
            <a:custGeom>
              <a:avLst/>
              <a:gdLst/>
              <a:ahLst/>
              <a:cxnLst/>
              <a:rect r="r" b="b" t="t" l="l"/>
              <a:pathLst>
                <a:path h="2860040" w="2860040">
                  <a:moveTo>
                    <a:pt x="0" y="1430020"/>
                  </a:moveTo>
                  <a:cubicBezTo>
                    <a:pt x="0" y="640207"/>
                    <a:pt x="640207" y="0"/>
                    <a:pt x="1430020" y="0"/>
                  </a:cubicBezTo>
                  <a:cubicBezTo>
                    <a:pt x="2219833" y="0"/>
                    <a:pt x="2860040" y="640207"/>
                    <a:pt x="2860040" y="1430020"/>
                  </a:cubicBezTo>
                  <a:cubicBezTo>
                    <a:pt x="2860040" y="2219833"/>
                    <a:pt x="2219833" y="2860040"/>
                    <a:pt x="1430020" y="2860040"/>
                  </a:cubicBezTo>
                  <a:cubicBezTo>
                    <a:pt x="640207" y="2860040"/>
                    <a:pt x="0" y="2219833"/>
                    <a:pt x="0" y="1430020"/>
                  </a:cubicBezTo>
                  <a:close/>
                </a:path>
              </a:pathLst>
            </a:custGeom>
            <a:solidFill>
              <a:srgbClr val="F5F3FF"/>
            </a:solidFill>
            <a:ln w="19050" cap="sq">
              <a:solidFill>
                <a:srgbClr val="C4B5FD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2029968" y="5390388"/>
            <a:ext cx="3977640" cy="592866"/>
            <a:chOff x="0" y="0"/>
            <a:chExt cx="5303520" cy="7904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03520" cy="790488"/>
            </a:xfrm>
            <a:custGeom>
              <a:avLst/>
              <a:gdLst/>
              <a:ahLst/>
              <a:cxnLst/>
              <a:rect r="r" b="b" t="t" l="l"/>
              <a:pathLst>
                <a:path h="790488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790488"/>
                  </a:lnTo>
                  <a:lnTo>
                    <a:pt x="0" y="790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085" r="0" b="-7237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5303520" cy="790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Aashish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322195" y="6066663"/>
            <a:ext cx="3379470" cy="540258"/>
            <a:chOff x="0" y="0"/>
            <a:chExt cx="4505960" cy="7203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05960" cy="720344"/>
            </a:xfrm>
            <a:custGeom>
              <a:avLst/>
              <a:gdLst/>
              <a:ahLst/>
              <a:cxnLst/>
              <a:rect r="r" b="b" t="t" l="l"/>
              <a:pathLst>
                <a:path h="720344" w="4505960">
                  <a:moveTo>
                    <a:pt x="0" y="151638"/>
                  </a:moveTo>
                  <a:cubicBezTo>
                    <a:pt x="0" y="67945"/>
                    <a:pt x="67945" y="0"/>
                    <a:pt x="151638" y="0"/>
                  </a:cubicBezTo>
                  <a:lnTo>
                    <a:pt x="4354322" y="0"/>
                  </a:lnTo>
                  <a:cubicBezTo>
                    <a:pt x="4438015" y="0"/>
                    <a:pt x="4505960" y="67945"/>
                    <a:pt x="4505960" y="151638"/>
                  </a:cubicBezTo>
                  <a:lnTo>
                    <a:pt x="4505960" y="568706"/>
                  </a:lnTo>
                  <a:cubicBezTo>
                    <a:pt x="4505960" y="652399"/>
                    <a:pt x="4438015" y="720344"/>
                    <a:pt x="4354322" y="720344"/>
                  </a:cubicBezTo>
                  <a:lnTo>
                    <a:pt x="151638" y="720344"/>
                  </a:lnTo>
                  <a:cubicBezTo>
                    <a:pt x="67945" y="720344"/>
                    <a:pt x="0" y="652399"/>
                    <a:pt x="0" y="568706"/>
                  </a:cubicBezTo>
                  <a:close/>
                </a:path>
              </a:pathLst>
            </a:custGeom>
            <a:solidFill>
              <a:srgbClr val="F5F3FF"/>
            </a:solidFill>
            <a:ln w="19050" cap="sq">
              <a:solidFill>
                <a:srgbClr val="F5F3F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2468880" y="6158484"/>
            <a:ext cx="3086100" cy="274320"/>
            <a:chOff x="0" y="0"/>
            <a:chExt cx="4114800" cy="3657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14800" cy="365760"/>
            </a:xfrm>
            <a:custGeom>
              <a:avLst/>
              <a:gdLst/>
              <a:ahLst/>
              <a:cxnLst/>
              <a:rect r="r" b="b" t="t" l="l"/>
              <a:pathLst>
                <a:path h="36576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411480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RETURNING CUSTOMER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45920" y="6995160"/>
            <a:ext cx="1097280" cy="301752"/>
            <a:chOff x="0" y="0"/>
            <a:chExt cx="1463040" cy="40233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3040" cy="402336"/>
            </a:xfrm>
            <a:custGeom>
              <a:avLst/>
              <a:gdLst/>
              <a:ahLst/>
              <a:cxnLst/>
              <a:rect r="r" b="b" t="t" l="l"/>
              <a:pathLst>
                <a:path h="40233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46304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Context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45920" y="7379208"/>
            <a:ext cx="4732020" cy="754380"/>
            <a:chOff x="0" y="0"/>
            <a:chExt cx="6309360" cy="1005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09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24" r="0" b="-7222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630936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Often orders the same meals and wants a fast checkout.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740015" y="2665095"/>
            <a:ext cx="9003030" cy="1459230"/>
            <a:chOff x="0" y="0"/>
            <a:chExt cx="12004040" cy="1945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004040" cy="1945640"/>
            </a:xfrm>
            <a:custGeom>
              <a:avLst/>
              <a:gdLst/>
              <a:ahLst/>
              <a:cxnLst/>
              <a:rect r="r" b="b" t="t" l="l"/>
              <a:pathLst>
                <a:path h="1945640" w="12004040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11892915" y="0"/>
                  </a:lnTo>
                  <a:cubicBezTo>
                    <a:pt x="11954256" y="0"/>
                    <a:pt x="12004040" y="49784"/>
                    <a:pt x="12004040" y="111125"/>
                  </a:cubicBezTo>
                  <a:lnTo>
                    <a:pt x="12004040" y="1834515"/>
                  </a:lnTo>
                  <a:cubicBezTo>
                    <a:pt x="12004040" y="1895856"/>
                    <a:pt x="11954256" y="1945640"/>
                    <a:pt x="11892915" y="1945640"/>
                  </a:cubicBezTo>
                  <a:lnTo>
                    <a:pt x="111125" y="1945640"/>
                  </a:lnTo>
                  <a:cubicBezTo>
                    <a:pt x="49784" y="1945640"/>
                    <a:pt x="0" y="1895856"/>
                    <a:pt x="0" y="1834515"/>
                  </a:cubicBezTo>
                  <a:close/>
                </a:path>
              </a:pathLst>
            </a:custGeom>
            <a:solidFill>
              <a:srgbClr val="F0FDF4"/>
            </a:solidFill>
            <a:ln w="19050" cap="sq">
              <a:solidFill>
                <a:srgbClr val="F0FDF4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0" y="3147251"/>
            <a:ext cx="1645920" cy="329184"/>
            <a:chOff x="0" y="0"/>
            <a:chExt cx="2194560" cy="43891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0" cy="438912"/>
            </a:xfrm>
            <a:custGeom>
              <a:avLst/>
              <a:gdLst/>
              <a:ahLst/>
              <a:cxnLst/>
              <a:rect r="r" b="b" t="t" l="l"/>
              <a:pathLst>
                <a:path h="43891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19456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Goal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765792" y="2894076"/>
            <a:ext cx="6515100" cy="795528"/>
            <a:chOff x="0" y="0"/>
            <a:chExt cx="8686800" cy="106070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686800" cy="1060704"/>
            </a:xfrm>
            <a:custGeom>
              <a:avLst/>
              <a:gdLst/>
              <a:ahLst/>
              <a:cxnLst/>
              <a:rect r="r" b="b" t="t" l="l"/>
              <a:pathLst>
                <a:path h="1060704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575" r="0" b="-10957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8686800" cy="1060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Reorder a favourite meal in a few taps.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740015" y="4413885"/>
            <a:ext cx="9003030" cy="1459230"/>
            <a:chOff x="0" y="0"/>
            <a:chExt cx="12004040" cy="194564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12004040" cy="1945640"/>
              <a:chOff x="0" y="0"/>
              <a:chExt cx="12004040" cy="194564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2004040" cy="1945640"/>
              </a:xfrm>
              <a:custGeom>
                <a:avLst/>
                <a:gdLst/>
                <a:ahLst/>
                <a:cxnLst/>
                <a:rect r="r" b="b" t="t" l="l"/>
                <a:pathLst>
                  <a:path h="1945640" w="1200404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lnTo>
                      <a:pt x="11892915" y="0"/>
                    </a:lnTo>
                    <a:cubicBezTo>
                      <a:pt x="11954256" y="0"/>
                      <a:pt x="12004040" y="49784"/>
                      <a:pt x="12004040" y="111125"/>
                    </a:cubicBezTo>
                    <a:lnTo>
                      <a:pt x="12004040" y="1834515"/>
                    </a:lnTo>
                    <a:cubicBezTo>
                      <a:pt x="12004040" y="1895856"/>
                      <a:pt x="11954256" y="1945640"/>
                      <a:pt x="11892915" y="1945640"/>
                    </a:cubicBezTo>
                    <a:lnTo>
                      <a:pt x="111125" y="1945640"/>
                    </a:lnTo>
                    <a:cubicBezTo>
                      <a:pt x="49784" y="1945640"/>
                      <a:pt x="0" y="1895856"/>
                      <a:pt x="0" y="1834515"/>
                    </a:cubicBezTo>
                    <a:close/>
                  </a:path>
                </a:pathLst>
              </a:custGeom>
              <a:solidFill>
                <a:srgbClr val="FEF2F2"/>
              </a:solidFill>
              <a:ln w="19050" cap="sq">
                <a:solidFill>
                  <a:srgbClr val="FEF2F2"/>
                </a:solidFill>
                <a:prstDash val="solid"/>
                <a:miter/>
              </a:ln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2701036" y="305308"/>
              <a:ext cx="8686800" cy="1060704"/>
              <a:chOff x="0" y="0"/>
              <a:chExt cx="8686800" cy="1060704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686800" cy="1060704"/>
              </a:xfrm>
              <a:custGeom>
                <a:avLst/>
                <a:gdLst/>
                <a:ahLst/>
                <a:cxnLst/>
                <a:rect r="r" b="b" t="t" l="l"/>
                <a:pathLst>
                  <a:path h="1060704" w="8686800">
                    <a:moveTo>
                      <a:pt x="0" y="0"/>
                    </a:moveTo>
                    <a:lnTo>
                      <a:pt x="8686800" y="0"/>
                    </a:lnTo>
                    <a:lnTo>
                      <a:pt x="8686800" y="1060704"/>
                    </a:lnTo>
                    <a:lnTo>
                      <a:pt x="0" y="106070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9575" r="0" b="-109575"/>
                </a:stretch>
              </a:blip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0"/>
                <a:ext cx="8686800" cy="106070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70"/>
                  </a:lnSpc>
                </a:pPr>
                <a:r>
                  <a:rPr lang="en-US" sz="1725">
                    <a:solidFill>
                      <a:srgbClr val="0F172A"/>
                    </a:solidFill>
                    <a:latin typeface="Aptos"/>
                    <a:ea typeface="Aptos"/>
                    <a:cs typeface="Aptos"/>
                    <a:sym typeface="Aptos"/>
                  </a:rPr>
                  <a:t>Searching for the restaurant and rebuilding the cart takes too long.</a:t>
                </a:r>
              </a:p>
            </p:txBody>
          </p:sp>
        </p:grpSp>
      </p:grpSp>
      <p:grpSp>
        <p:nvGrpSpPr>
          <p:cNvPr name="Group 42" id="42"/>
          <p:cNvGrpSpPr/>
          <p:nvPr/>
        </p:nvGrpSpPr>
        <p:grpSpPr>
          <a:xfrm rot="0">
            <a:off x="8229600" y="4876800"/>
            <a:ext cx="1645920" cy="329184"/>
            <a:chOff x="0" y="0"/>
            <a:chExt cx="2194560" cy="43891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4560" cy="438912"/>
            </a:xfrm>
            <a:custGeom>
              <a:avLst/>
              <a:gdLst/>
              <a:ahLst/>
              <a:cxnLst/>
              <a:rect r="r" b="b" t="t" l="l"/>
              <a:pathLst>
                <a:path h="43891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219456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DC262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Pain point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740015" y="6231255"/>
            <a:ext cx="9003030" cy="1459230"/>
            <a:chOff x="0" y="0"/>
            <a:chExt cx="12004040" cy="1945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004040" cy="1945640"/>
            </a:xfrm>
            <a:custGeom>
              <a:avLst/>
              <a:gdLst/>
              <a:ahLst/>
              <a:cxnLst/>
              <a:rect r="r" b="b" t="t" l="l"/>
              <a:pathLst>
                <a:path h="1945640" w="12004040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11892915" y="0"/>
                  </a:lnTo>
                  <a:cubicBezTo>
                    <a:pt x="11954256" y="0"/>
                    <a:pt x="12004040" y="49784"/>
                    <a:pt x="12004040" y="111125"/>
                  </a:cubicBezTo>
                  <a:lnTo>
                    <a:pt x="12004040" y="1834515"/>
                  </a:lnTo>
                  <a:cubicBezTo>
                    <a:pt x="12004040" y="1895856"/>
                    <a:pt x="11954256" y="1945640"/>
                    <a:pt x="11892915" y="1945640"/>
                  </a:cubicBezTo>
                  <a:lnTo>
                    <a:pt x="111125" y="1945640"/>
                  </a:lnTo>
                  <a:cubicBezTo>
                    <a:pt x="49784" y="1945640"/>
                    <a:pt x="0" y="1895856"/>
                    <a:pt x="0" y="1834515"/>
                  </a:cubicBezTo>
                  <a:close/>
                </a:path>
              </a:pathLst>
            </a:custGeom>
            <a:solidFill>
              <a:srgbClr val="EFF6FF"/>
            </a:solidFill>
            <a:ln w="19050" cap="sq">
              <a:solidFill>
                <a:srgbClr val="EFF6FF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8229600" y="6528816"/>
            <a:ext cx="1645920" cy="329184"/>
            <a:chOff x="0" y="0"/>
            <a:chExt cx="2194560" cy="43891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94560" cy="438912"/>
            </a:xfrm>
            <a:custGeom>
              <a:avLst/>
              <a:gdLst/>
              <a:ahLst/>
              <a:cxnLst/>
              <a:rect r="r" b="b" t="t" l="l"/>
              <a:pathLst>
                <a:path h="43891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219456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Need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765792" y="6460236"/>
            <a:ext cx="6515100" cy="795528"/>
            <a:chOff x="0" y="0"/>
            <a:chExt cx="8686800" cy="106070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686800" cy="1060704"/>
            </a:xfrm>
            <a:custGeom>
              <a:avLst/>
              <a:gdLst/>
              <a:ahLst/>
              <a:cxnLst/>
              <a:rect r="r" b="b" t="t" l="l"/>
              <a:pathLst>
                <a:path h="1060704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575" r="0" b="-10957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8686800" cy="1060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A quick, reliable way to reuse a previous order while handling unavailable items.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872984" y="8202168"/>
            <a:ext cx="8435340" cy="576072"/>
            <a:chOff x="0" y="0"/>
            <a:chExt cx="11247120" cy="76809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247120" cy="768096"/>
            </a:xfrm>
            <a:custGeom>
              <a:avLst/>
              <a:gdLst/>
              <a:ahLst/>
              <a:cxnLst/>
              <a:rect r="r" b="b" t="t" l="l"/>
              <a:pathLst>
                <a:path h="768096" w="11247120">
                  <a:moveTo>
                    <a:pt x="0" y="0"/>
                  </a:moveTo>
                  <a:lnTo>
                    <a:pt x="11247120" y="0"/>
                  </a:lnTo>
                  <a:lnTo>
                    <a:pt x="11247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1124712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64748B"/>
                  </a:solidFill>
                  <a:latin typeface="Aptos Italics"/>
                  <a:ea typeface="Aptos Italics"/>
                  <a:cs typeface="Aptos Italics"/>
                  <a:sym typeface="Aptos Italics"/>
                </a:rPr>
                <a:t>A persona is not just demographics. A BA  focus on behaviour, goals, problems and context.</a:t>
              </a: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3322344" y="3311843"/>
            <a:ext cx="1379172" cy="1400175"/>
          </a:xfrm>
          <a:custGeom>
            <a:avLst/>
            <a:gdLst/>
            <a:ahLst/>
            <a:cxnLst/>
            <a:rect r="r" b="b" t="t" l="l"/>
            <a:pathLst>
              <a:path h="1400175" w="1379172">
                <a:moveTo>
                  <a:pt x="0" y="0"/>
                </a:moveTo>
                <a:lnTo>
                  <a:pt x="1379172" y="0"/>
                </a:lnTo>
                <a:lnTo>
                  <a:pt x="1379172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7579340" y="9825228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94A3B8"/>
                </a:solidFill>
                <a:latin typeface="Aptos"/>
                <a:ea typeface="Aptos"/>
                <a:cs typeface="Aptos"/>
                <a:sym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56210"/>
            <a:chOff x="0" y="0"/>
            <a:chExt cx="24408790" cy="208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08280"/>
            </a:xfrm>
            <a:custGeom>
              <a:avLst/>
              <a:gdLst/>
              <a:ahLst/>
              <a:cxnLst/>
              <a:rect r="r" b="b" t="t" l="l"/>
              <a:pathLst>
                <a:path h="20828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08280"/>
                  </a:lnTo>
                  <a:lnTo>
                    <a:pt x="0" y="208280"/>
                  </a:lnTo>
                  <a:close/>
                </a:path>
              </a:pathLst>
            </a:custGeom>
            <a:solidFill>
              <a:srgbClr val="F97316"/>
            </a:solidFill>
            <a:ln w="1905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64108"/>
            <a:ext cx="16322040" cy="754380"/>
            <a:chOff x="0" y="0"/>
            <a:chExt cx="2176272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627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1585" r="0" b="-37158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76272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4. User Story - express the need in the user’s voice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8972" y="1673352"/>
            <a:ext cx="15910560" cy="466344"/>
            <a:chOff x="0" y="0"/>
            <a:chExt cx="21214080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14080" cy="621792"/>
            </a:xfrm>
            <a:custGeom>
              <a:avLst/>
              <a:gdLst/>
              <a:ahLst/>
              <a:cxnLst/>
              <a:rect r="r" b="b" t="t" l="l"/>
              <a:pathLst>
                <a:path h="621792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4783" r="0" b="-61478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21408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A user story keeps the team focused on the user, their goal, and the value they expect.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50442" y="2663190"/>
            <a:ext cx="15864840" cy="1641348"/>
            <a:chOff x="0" y="0"/>
            <a:chExt cx="21153120" cy="21884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153120" cy="2188464"/>
            </a:xfrm>
            <a:custGeom>
              <a:avLst/>
              <a:gdLst/>
              <a:ahLst/>
              <a:cxnLst/>
              <a:rect r="r" b="b" t="t" l="l"/>
              <a:pathLst>
                <a:path h="2188464" w="2115312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21041868" y="0"/>
                  </a:lnTo>
                  <a:cubicBezTo>
                    <a:pt x="21103335" y="0"/>
                    <a:pt x="21153120" y="49784"/>
                    <a:pt x="21153120" y="111252"/>
                  </a:cubicBezTo>
                  <a:lnTo>
                    <a:pt x="21153120" y="2077212"/>
                  </a:lnTo>
                  <a:cubicBezTo>
                    <a:pt x="21153120" y="2138680"/>
                    <a:pt x="21103335" y="2188464"/>
                    <a:pt x="21041868" y="2188464"/>
                  </a:cubicBezTo>
                  <a:lnTo>
                    <a:pt x="111252" y="2188464"/>
                  </a:lnTo>
                  <a:cubicBezTo>
                    <a:pt x="49784" y="2188464"/>
                    <a:pt x="0" y="2138680"/>
                    <a:pt x="0" y="2077212"/>
                  </a:cubicBezTo>
                  <a:close/>
                </a:path>
              </a:pathLst>
            </a:custGeom>
            <a:solidFill>
              <a:srgbClr val="F0FDF4"/>
            </a:solidFill>
            <a:ln w="22860" cap="sq">
              <a:solidFill>
                <a:srgbClr val="BBF7D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714500" y="3209544"/>
            <a:ext cx="14881860" cy="493776"/>
            <a:chOff x="0" y="0"/>
            <a:chExt cx="19842480" cy="6583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842480" cy="658368"/>
            </a:xfrm>
            <a:custGeom>
              <a:avLst/>
              <a:gdLst/>
              <a:ahLst/>
              <a:cxnLst/>
              <a:rect r="r" b="b" t="t" l="l"/>
              <a:pathLst>
                <a:path h="658368" w="19842480">
                  <a:moveTo>
                    <a:pt x="0" y="0"/>
                  </a:moveTo>
                  <a:lnTo>
                    <a:pt x="19842480" y="0"/>
                  </a:lnTo>
                  <a:lnTo>
                    <a:pt x="19842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7257" r="0" b="-53725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84248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As a </a:t>
              </a:r>
              <a:r>
                <a:rPr lang="en-US" sz="3300" b="true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[user]</a:t>
              </a:r>
              <a:r>
                <a:rPr lang="en-US" sz="33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, I want </a:t>
              </a:r>
              <a:r>
                <a:rPr lang="en-US" sz="3300" b="true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[goal]</a:t>
              </a:r>
              <a:r>
                <a:rPr lang="en-US" sz="33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, so that </a:t>
              </a:r>
              <a:r>
                <a:rPr lang="en-US" sz="3300" b="true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[benefit].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30655" y="5024247"/>
            <a:ext cx="4202430" cy="1390650"/>
            <a:chOff x="0" y="0"/>
            <a:chExt cx="5603240" cy="1854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03240" cy="1854200"/>
            </a:xfrm>
            <a:custGeom>
              <a:avLst/>
              <a:gdLst/>
              <a:ahLst/>
              <a:cxnLst/>
              <a:rect r="r" b="b" t="t" l="l"/>
              <a:pathLst>
                <a:path h="1854200" w="5603240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5510530" y="0"/>
                  </a:lnTo>
                  <a:cubicBezTo>
                    <a:pt x="5561711" y="0"/>
                    <a:pt x="5603240" y="41529"/>
                    <a:pt x="5603240" y="92710"/>
                  </a:cubicBezTo>
                  <a:lnTo>
                    <a:pt x="5603240" y="1761490"/>
                  </a:lnTo>
                  <a:cubicBezTo>
                    <a:pt x="5603240" y="1812671"/>
                    <a:pt x="5561711" y="1854200"/>
                    <a:pt x="5510530" y="1854200"/>
                  </a:cubicBezTo>
                  <a:lnTo>
                    <a:pt x="92710" y="1854200"/>
                  </a:lnTo>
                  <a:cubicBezTo>
                    <a:pt x="41529" y="1854200"/>
                    <a:pt x="0" y="1812671"/>
                    <a:pt x="0" y="1761490"/>
                  </a:cubicBezTo>
                  <a:close/>
                </a:path>
              </a:pathLst>
            </a:custGeom>
            <a:solidFill>
              <a:srgbClr val="F5F3FF"/>
            </a:solidFill>
            <a:ln w="19050" cap="sq">
              <a:solidFill>
                <a:srgbClr val="F5F3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3038094" y="5291709"/>
            <a:ext cx="987552" cy="274320"/>
            <a:chOff x="0" y="0"/>
            <a:chExt cx="1316736" cy="3657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16736" cy="365760"/>
            </a:xfrm>
            <a:custGeom>
              <a:avLst/>
              <a:gdLst/>
              <a:ahLst/>
              <a:cxnLst/>
              <a:rect r="r" b="b" t="t" l="l"/>
              <a:pathLst>
                <a:path h="365760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316736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WHO?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139696" y="5623179"/>
            <a:ext cx="2784348" cy="548640"/>
            <a:chOff x="0" y="0"/>
            <a:chExt cx="3712464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12464" cy="731520"/>
            </a:xfrm>
            <a:custGeom>
              <a:avLst/>
              <a:gdLst/>
              <a:ahLst/>
              <a:cxnLst/>
              <a:rect r="r" b="b" t="t" l="l"/>
              <a:pathLst>
                <a:path h="731520" w="3712464">
                  <a:moveTo>
                    <a:pt x="0" y="0"/>
                  </a:moveTo>
                  <a:lnTo>
                    <a:pt x="3712464" y="0"/>
                  </a:lnTo>
                  <a:lnTo>
                    <a:pt x="371246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886" r="0" b="-4888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3712464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Returning customer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190107" y="5024247"/>
            <a:ext cx="4202430" cy="1390650"/>
            <a:chOff x="0" y="0"/>
            <a:chExt cx="5603240" cy="1854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603240" cy="1854200"/>
            </a:xfrm>
            <a:custGeom>
              <a:avLst/>
              <a:gdLst/>
              <a:ahLst/>
              <a:cxnLst/>
              <a:rect r="r" b="b" t="t" l="l"/>
              <a:pathLst>
                <a:path h="1854200" w="5603240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5510530" y="0"/>
                  </a:lnTo>
                  <a:cubicBezTo>
                    <a:pt x="5561711" y="0"/>
                    <a:pt x="5603240" y="41529"/>
                    <a:pt x="5603240" y="92710"/>
                  </a:cubicBezTo>
                  <a:lnTo>
                    <a:pt x="5603240" y="1761490"/>
                  </a:lnTo>
                  <a:cubicBezTo>
                    <a:pt x="5603240" y="1812671"/>
                    <a:pt x="5561711" y="1854200"/>
                    <a:pt x="5510530" y="1854200"/>
                  </a:cubicBezTo>
                  <a:lnTo>
                    <a:pt x="92710" y="1854200"/>
                  </a:lnTo>
                  <a:cubicBezTo>
                    <a:pt x="41529" y="1854200"/>
                    <a:pt x="0" y="1812671"/>
                    <a:pt x="0" y="1761490"/>
                  </a:cubicBezTo>
                  <a:close/>
                </a:path>
              </a:pathLst>
            </a:custGeom>
            <a:solidFill>
              <a:srgbClr val="EFF6FF"/>
            </a:solidFill>
            <a:ln w="19050" cap="sq">
              <a:solidFill>
                <a:srgbClr val="EFF6F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7797546" y="5291709"/>
            <a:ext cx="987552" cy="274320"/>
            <a:chOff x="0" y="0"/>
            <a:chExt cx="1316736" cy="365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16736" cy="365760"/>
            </a:xfrm>
            <a:custGeom>
              <a:avLst/>
              <a:gdLst/>
              <a:ahLst/>
              <a:cxnLst/>
              <a:rect r="r" b="b" t="t" l="l"/>
              <a:pathLst>
                <a:path h="365760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316736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WHAT?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899148" y="5623179"/>
            <a:ext cx="2784348" cy="548640"/>
            <a:chOff x="0" y="0"/>
            <a:chExt cx="3712464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712464" cy="731520"/>
            </a:xfrm>
            <a:custGeom>
              <a:avLst/>
              <a:gdLst/>
              <a:ahLst/>
              <a:cxnLst/>
              <a:rect r="r" b="b" t="t" l="l"/>
              <a:pathLst>
                <a:path h="731520" w="3712464">
                  <a:moveTo>
                    <a:pt x="0" y="0"/>
                  </a:moveTo>
                  <a:lnTo>
                    <a:pt x="3712464" y="0"/>
                  </a:lnTo>
                  <a:lnTo>
                    <a:pt x="371246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886" r="0" b="-4888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3712464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Reorder a previous meal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306175" y="5024247"/>
            <a:ext cx="4202430" cy="1390650"/>
            <a:chOff x="0" y="0"/>
            <a:chExt cx="5603240" cy="1854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603240" cy="1854200"/>
            </a:xfrm>
            <a:custGeom>
              <a:avLst/>
              <a:gdLst/>
              <a:ahLst/>
              <a:cxnLst/>
              <a:rect r="r" b="b" t="t" l="l"/>
              <a:pathLst>
                <a:path h="1854200" w="5603240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5510530" y="0"/>
                  </a:lnTo>
                  <a:cubicBezTo>
                    <a:pt x="5561711" y="0"/>
                    <a:pt x="5603240" y="41529"/>
                    <a:pt x="5603240" y="92710"/>
                  </a:cubicBezTo>
                  <a:lnTo>
                    <a:pt x="5603240" y="1761490"/>
                  </a:lnTo>
                  <a:cubicBezTo>
                    <a:pt x="5603240" y="1812671"/>
                    <a:pt x="5561711" y="1854200"/>
                    <a:pt x="5510530" y="1854200"/>
                  </a:cubicBezTo>
                  <a:lnTo>
                    <a:pt x="92710" y="1854200"/>
                  </a:lnTo>
                  <a:cubicBezTo>
                    <a:pt x="41529" y="1854200"/>
                    <a:pt x="0" y="1812671"/>
                    <a:pt x="0" y="1761490"/>
                  </a:cubicBezTo>
                  <a:close/>
                </a:path>
              </a:pathLst>
            </a:custGeom>
            <a:solidFill>
              <a:srgbClr val="FFF1E8"/>
            </a:solidFill>
            <a:ln w="19050" cap="sq">
              <a:solidFill>
                <a:srgbClr val="FFF1E8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913614" y="5291709"/>
            <a:ext cx="987552" cy="274320"/>
            <a:chOff x="0" y="0"/>
            <a:chExt cx="1316736" cy="3657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16736" cy="365760"/>
            </a:xfrm>
            <a:custGeom>
              <a:avLst/>
              <a:gdLst/>
              <a:ahLst/>
              <a:cxnLst/>
              <a:rect r="r" b="b" t="t" l="l"/>
              <a:pathLst>
                <a:path h="365760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316736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9731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WHY?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015216" y="5612130"/>
            <a:ext cx="2784348" cy="578211"/>
            <a:chOff x="0" y="0"/>
            <a:chExt cx="3712464" cy="7709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712464" cy="770948"/>
            </a:xfrm>
            <a:custGeom>
              <a:avLst/>
              <a:gdLst/>
              <a:ahLst/>
              <a:cxnLst/>
              <a:rect r="r" b="b" t="t" l="l"/>
              <a:pathLst>
                <a:path h="770948" w="3712464">
                  <a:moveTo>
                    <a:pt x="0" y="0"/>
                  </a:moveTo>
                  <a:lnTo>
                    <a:pt x="3712464" y="0"/>
                  </a:lnTo>
                  <a:lnTo>
                    <a:pt x="3712464" y="770948"/>
                  </a:lnTo>
                  <a:lnTo>
                    <a:pt x="0" y="7709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86" r="0" b="-4127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3712464" cy="7709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Place the same order quickly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81328" y="7200900"/>
            <a:ext cx="1920240" cy="301752"/>
            <a:chOff x="0" y="0"/>
            <a:chExt cx="2560320" cy="40233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60320" cy="402336"/>
            </a:xfrm>
            <a:custGeom>
              <a:avLst/>
              <a:gdLst/>
              <a:ahLst/>
              <a:cxnLst/>
              <a:rect r="r" b="b" t="t" l="l"/>
              <a:pathLst>
                <a:path h="40233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995" r="0" b="-7399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256032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Complete example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81328" y="7680960"/>
            <a:ext cx="15019020" cy="932688"/>
            <a:chOff x="0" y="0"/>
            <a:chExt cx="20025360" cy="124358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025361" cy="1243584"/>
            </a:xfrm>
            <a:custGeom>
              <a:avLst/>
              <a:gdLst/>
              <a:ahLst/>
              <a:cxnLst/>
              <a:rect r="r" b="b" t="t" l="l"/>
              <a:pathLst>
                <a:path h="1243584" w="20025361">
                  <a:moveTo>
                    <a:pt x="0" y="0"/>
                  </a:moveTo>
                  <a:lnTo>
                    <a:pt x="20025361" y="0"/>
                  </a:lnTo>
                  <a:lnTo>
                    <a:pt x="20025361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766" r="0" b="-26376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20025360" cy="12435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“As a returning customer, I want to reorder a previous meal so that I can place the same order quickly.”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7579340" y="9825228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94A3B8"/>
                </a:solidFill>
                <a:latin typeface="Aptos"/>
                <a:ea typeface="Aptos"/>
                <a:cs typeface="Aptos"/>
                <a:sym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56210"/>
            <a:chOff x="0" y="0"/>
            <a:chExt cx="24408790" cy="208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08280"/>
            </a:xfrm>
            <a:custGeom>
              <a:avLst/>
              <a:gdLst/>
              <a:ahLst/>
              <a:cxnLst/>
              <a:rect r="r" b="b" t="t" l="l"/>
              <a:pathLst>
                <a:path h="20828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08280"/>
                  </a:lnTo>
                  <a:lnTo>
                    <a:pt x="0" y="208280"/>
                  </a:lnTo>
                  <a:close/>
                </a:path>
              </a:pathLst>
            </a:custGeom>
            <a:solidFill>
              <a:srgbClr val="F97316"/>
            </a:solidFill>
            <a:ln w="1905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64108"/>
            <a:ext cx="16322040" cy="754380"/>
            <a:chOff x="0" y="0"/>
            <a:chExt cx="2176272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627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1585" r="0" b="-37158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76272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5. Requirement - turn the need into something specific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8972" y="1673352"/>
            <a:ext cx="15910560" cy="466344"/>
            <a:chOff x="0" y="0"/>
            <a:chExt cx="21214080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14080" cy="621792"/>
            </a:xfrm>
            <a:custGeom>
              <a:avLst/>
              <a:gdLst/>
              <a:ahLst/>
              <a:cxnLst/>
              <a:rect r="r" b="b" t="t" l="l"/>
              <a:pathLst>
                <a:path h="621792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4783" r="0" b="-61478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21408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Requirements describe what the business or system must satisfy. Good requirements are clear and testable.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15187" y="2514219"/>
            <a:ext cx="5848350" cy="6534150"/>
            <a:chOff x="0" y="0"/>
            <a:chExt cx="7797800" cy="8712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97800" cy="8712200"/>
            </a:xfrm>
            <a:custGeom>
              <a:avLst/>
              <a:gdLst/>
              <a:ahLst/>
              <a:cxnLst/>
              <a:rect r="r" b="b" t="t" l="l"/>
              <a:pathLst>
                <a:path h="8712200" w="7797800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7669403" y="0"/>
                  </a:lnTo>
                  <a:cubicBezTo>
                    <a:pt x="7740269" y="0"/>
                    <a:pt x="7797800" y="57531"/>
                    <a:pt x="7797800" y="128397"/>
                  </a:cubicBezTo>
                  <a:lnTo>
                    <a:pt x="7797800" y="8583803"/>
                  </a:lnTo>
                  <a:cubicBezTo>
                    <a:pt x="7797800" y="8654797"/>
                    <a:pt x="7740269" y="8712200"/>
                    <a:pt x="7669403" y="8712200"/>
                  </a:cubicBezTo>
                  <a:lnTo>
                    <a:pt x="128397" y="8712200"/>
                  </a:lnTo>
                  <a:cubicBezTo>
                    <a:pt x="57531" y="8712200"/>
                    <a:pt x="0" y="8654669"/>
                    <a:pt x="0" y="8583803"/>
                  </a:cubicBezTo>
                  <a:close/>
                </a:path>
              </a:pathLst>
            </a:custGeom>
            <a:solidFill>
              <a:srgbClr val="F0FDF4"/>
            </a:solidFill>
            <a:ln w="19050" cap="sq">
              <a:solidFill>
                <a:srgbClr val="BBF7D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549908" y="2962656"/>
            <a:ext cx="1577340" cy="329184"/>
            <a:chOff x="0" y="0"/>
            <a:chExt cx="2103120" cy="4389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03120" cy="438912"/>
            </a:xfrm>
            <a:custGeom>
              <a:avLst/>
              <a:gdLst/>
              <a:ahLst/>
              <a:cxnLst/>
              <a:rect r="r" b="b" t="t" l="l"/>
              <a:pathLst>
                <a:path h="438912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365" r="0" b="-4336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0312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 STORY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63624" y="3703320"/>
            <a:ext cx="4910328" cy="2016252"/>
            <a:chOff x="0" y="0"/>
            <a:chExt cx="6547104" cy="2688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47104" cy="2688336"/>
            </a:xfrm>
            <a:custGeom>
              <a:avLst/>
              <a:gdLst/>
              <a:ahLst/>
              <a:cxnLst/>
              <a:rect r="r" b="b" t="t" l="l"/>
              <a:pathLst>
                <a:path h="2688336" w="6547104">
                  <a:moveTo>
                    <a:pt x="0" y="0"/>
                  </a:moveTo>
                  <a:lnTo>
                    <a:pt x="6547104" y="0"/>
                  </a:lnTo>
                  <a:lnTo>
                    <a:pt x="6547104" y="2688336"/>
                  </a:lnTo>
                  <a:lnTo>
                    <a:pt x="0" y="2688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83" t="0" r="-268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6547104" cy="2688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As a returning customer,</a:t>
              </a: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 want to reorder a previous meal</a:t>
              </a: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so that I can place the same order quickly.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63624" y="7914132"/>
            <a:ext cx="1920240" cy="274320"/>
            <a:chOff x="0" y="0"/>
            <a:chExt cx="2560320" cy="365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0320" cy="365760"/>
            </a:xfrm>
            <a:custGeom>
              <a:avLst/>
              <a:gdLst/>
              <a:ahLst/>
              <a:cxnLst/>
              <a:rect r="r" b="b" t="t" l="l"/>
              <a:pathLst>
                <a:path h="36576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56032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 perspective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497580" y="7914132"/>
            <a:ext cx="2743200" cy="274320"/>
            <a:chOff x="0" y="0"/>
            <a:chExt cx="3657600" cy="3657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760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365760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describes the need and value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287387" y="5133975"/>
            <a:ext cx="773430" cy="485394"/>
            <a:chOff x="0" y="0"/>
            <a:chExt cx="1031240" cy="6471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31240" cy="647192"/>
            </a:xfrm>
            <a:custGeom>
              <a:avLst/>
              <a:gdLst/>
              <a:ahLst/>
              <a:cxnLst/>
              <a:rect r="r" b="b" t="t" l="l"/>
              <a:pathLst>
                <a:path h="647192" w="1031240">
                  <a:moveTo>
                    <a:pt x="0" y="0"/>
                  </a:moveTo>
                  <a:lnTo>
                    <a:pt x="707644" y="0"/>
                  </a:lnTo>
                  <a:lnTo>
                    <a:pt x="1031240" y="323596"/>
                  </a:lnTo>
                  <a:lnTo>
                    <a:pt x="707644" y="647192"/>
                  </a:lnTo>
                  <a:lnTo>
                    <a:pt x="0" y="647192"/>
                  </a:lnTo>
                  <a:lnTo>
                    <a:pt x="323596" y="323596"/>
                  </a:lnTo>
                  <a:close/>
                </a:path>
              </a:pathLst>
            </a:custGeom>
            <a:solidFill>
              <a:srgbClr val="CBD5E1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220075" y="2514219"/>
            <a:ext cx="8865870" cy="6534150"/>
            <a:chOff x="0" y="0"/>
            <a:chExt cx="11821160" cy="8712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821160" cy="8712200"/>
            </a:xfrm>
            <a:custGeom>
              <a:avLst/>
              <a:gdLst/>
              <a:ahLst/>
              <a:cxnLst/>
              <a:rect r="r" b="b" t="t" l="l"/>
              <a:pathLst>
                <a:path h="8712200" w="11821160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11692763" y="0"/>
                  </a:lnTo>
                  <a:cubicBezTo>
                    <a:pt x="11763629" y="0"/>
                    <a:pt x="11821160" y="57531"/>
                    <a:pt x="11821160" y="128397"/>
                  </a:cubicBezTo>
                  <a:lnTo>
                    <a:pt x="11821160" y="8583803"/>
                  </a:lnTo>
                  <a:cubicBezTo>
                    <a:pt x="11821160" y="8654669"/>
                    <a:pt x="11763629" y="8712200"/>
                    <a:pt x="11692763" y="8712200"/>
                  </a:cubicBezTo>
                  <a:lnTo>
                    <a:pt x="128397" y="8712200"/>
                  </a:lnTo>
                  <a:cubicBezTo>
                    <a:pt x="57531" y="8712200"/>
                    <a:pt x="0" y="8654669"/>
                    <a:pt x="0" y="8583803"/>
                  </a:cubicBezTo>
                  <a:close/>
                </a:path>
              </a:pathLst>
            </a:custGeom>
            <a:solidFill>
              <a:srgbClr val="F0FDFA"/>
            </a:solidFill>
            <a:ln w="19050" cap="sq">
              <a:solidFill>
                <a:srgbClr val="99F6E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8695944" y="2962656"/>
            <a:ext cx="2880360" cy="329184"/>
            <a:chOff x="0" y="0"/>
            <a:chExt cx="3840480" cy="4389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40480" cy="438912"/>
            </a:xfrm>
            <a:custGeom>
              <a:avLst/>
              <a:gdLst/>
              <a:ahLst/>
              <a:cxnLst/>
              <a:rect r="r" b="b" t="t" l="l"/>
              <a:pathLst>
                <a:path h="438912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384048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0F766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FUNCTIONAL REQUIREMENTS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686419" y="3803523"/>
            <a:ext cx="334518" cy="334518"/>
            <a:chOff x="0" y="0"/>
            <a:chExt cx="446024" cy="44602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46024" cy="446024"/>
            </a:xfrm>
            <a:custGeom>
              <a:avLst/>
              <a:gdLst/>
              <a:ahLst/>
              <a:cxnLst/>
              <a:rect r="r" b="b" t="t" l="l"/>
              <a:pathLst>
                <a:path h="446024" w="446024">
                  <a:moveTo>
                    <a:pt x="0" y="223012"/>
                  </a:moveTo>
                  <a:cubicBezTo>
                    <a:pt x="0" y="99822"/>
                    <a:pt x="99822" y="0"/>
                    <a:pt x="223012" y="0"/>
                  </a:cubicBezTo>
                  <a:cubicBezTo>
                    <a:pt x="346202" y="0"/>
                    <a:pt x="446024" y="99822"/>
                    <a:pt x="446024" y="223012"/>
                  </a:cubicBezTo>
                  <a:cubicBezTo>
                    <a:pt x="446024" y="346202"/>
                    <a:pt x="346202" y="446024"/>
                    <a:pt x="223012" y="446024"/>
                  </a:cubicBezTo>
                  <a:cubicBezTo>
                    <a:pt x="99822" y="446024"/>
                    <a:pt x="0" y="346202"/>
                    <a:pt x="0" y="223012"/>
                  </a:cubicBezTo>
                  <a:close/>
                </a:path>
              </a:pathLst>
            </a:custGeom>
            <a:solidFill>
              <a:srgbClr val="0F766E"/>
            </a:solidFill>
            <a:ln w="19050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695944" y="3888486"/>
            <a:ext cx="315468" cy="137160"/>
            <a:chOff x="0" y="0"/>
            <a:chExt cx="420624" cy="1828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20624" cy="182880"/>
            </a:xfrm>
            <a:custGeom>
              <a:avLst/>
              <a:gdLst/>
              <a:ahLst/>
              <a:cxnLst/>
              <a:rect r="r" b="b" t="t" l="l"/>
              <a:pathLst>
                <a:path h="182880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182880"/>
                  </a:lnTo>
                  <a:lnTo>
                    <a:pt x="0" y="182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84" t="0" r="-5784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420624" cy="182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70"/>
                </a:lnSpc>
              </a:pPr>
              <a:r>
                <a:rPr lang="en-US" sz="9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344787" y="3648456"/>
            <a:ext cx="7200900" cy="644652"/>
            <a:chOff x="0" y="0"/>
            <a:chExt cx="9601200" cy="85953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601200" cy="859536"/>
            </a:xfrm>
            <a:custGeom>
              <a:avLst/>
              <a:gdLst/>
              <a:ahLst/>
              <a:cxnLst/>
              <a:rect r="r" b="b" t="t" l="l"/>
              <a:pathLst>
                <a:path h="85953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859536"/>
                  </a:lnTo>
                  <a:lnTo>
                    <a:pt x="0" y="8595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652" r="0" b="-16765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9601200" cy="8690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The system shall display eligible previous orders.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686419" y="4708779"/>
            <a:ext cx="334518" cy="334518"/>
            <a:chOff x="0" y="0"/>
            <a:chExt cx="446024" cy="44602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46024" cy="446024"/>
            </a:xfrm>
            <a:custGeom>
              <a:avLst/>
              <a:gdLst/>
              <a:ahLst/>
              <a:cxnLst/>
              <a:rect r="r" b="b" t="t" l="l"/>
              <a:pathLst>
                <a:path h="446024" w="446024">
                  <a:moveTo>
                    <a:pt x="0" y="223012"/>
                  </a:moveTo>
                  <a:cubicBezTo>
                    <a:pt x="0" y="99822"/>
                    <a:pt x="99822" y="0"/>
                    <a:pt x="223012" y="0"/>
                  </a:cubicBezTo>
                  <a:cubicBezTo>
                    <a:pt x="346202" y="0"/>
                    <a:pt x="446024" y="99822"/>
                    <a:pt x="446024" y="223012"/>
                  </a:cubicBezTo>
                  <a:cubicBezTo>
                    <a:pt x="446024" y="346202"/>
                    <a:pt x="346202" y="446024"/>
                    <a:pt x="223012" y="446024"/>
                  </a:cubicBezTo>
                  <a:cubicBezTo>
                    <a:pt x="99822" y="446024"/>
                    <a:pt x="0" y="346202"/>
                    <a:pt x="0" y="223012"/>
                  </a:cubicBezTo>
                  <a:close/>
                </a:path>
              </a:pathLst>
            </a:custGeom>
            <a:solidFill>
              <a:srgbClr val="0F766E"/>
            </a:solidFill>
            <a:ln w="19050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8695944" y="4793742"/>
            <a:ext cx="315468" cy="137160"/>
            <a:chOff x="0" y="0"/>
            <a:chExt cx="420624" cy="1828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20624" cy="182880"/>
            </a:xfrm>
            <a:custGeom>
              <a:avLst/>
              <a:gdLst/>
              <a:ahLst/>
              <a:cxnLst/>
              <a:rect r="r" b="b" t="t" l="l"/>
              <a:pathLst>
                <a:path h="182880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182880"/>
                  </a:lnTo>
                  <a:lnTo>
                    <a:pt x="0" y="182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84" t="0" r="-5784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420624" cy="182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70"/>
                </a:lnSpc>
              </a:pPr>
              <a:r>
                <a:rPr lang="en-US" sz="9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344787" y="4553712"/>
            <a:ext cx="7200900" cy="644652"/>
            <a:chOff x="0" y="0"/>
            <a:chExt cx="9601200" cy="85953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601200" cy="859536"/>
            </a:xfrm>
            <a:custGeom>
              <a:avLst/>
              <a:gdLst/>
              <a:ahLst/>
              <a:cxnLst/>
              <a:rect r="r" b="b" t="t" l="l"/>
              <a:pathLst>
                <a:path h="85953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859536"/>
                  </a:lnTo>
                  <a:lnTo>
                    <a:pt x="0" y="8595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652" r="0" b="-16765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9601200" cy="8690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The system shall allow the customer to select a previous order.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686419" y="5614035"/>
            <a:ext cx="334518" cy="334518"/>
            <a:chOff x="0" y="0"/>
            <a:chExt cx="446024" cy="44602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46024" cy="446024"/>
            </a:xfrm>
            <a:custGeom>
              <a:avLst/>
              <a:gdLst/>
              <a:ahLst/>
              <a:cxnLst/>
              <a:rect r="r" b="b" t="t" l="l"/>
              <a:pathLst>
                <a:path h="446024" w="446024">
                  <a:moveTo>
                    <a:pt x="0" y="223012"/>
                  </a:moveTo>
                  <a:cubicBezTo>
                    <a:pt x="0" y="99822"/>
                    <a:pt x="99822" y="0"/>
                    <a:pt x="223012" y="0"/>
                  </a:cubicBezTo>
                  <a:cubicBezTo>
                    <a:pt x="346202" y="0"/>
                    <a:pt x="446024" y="99822"/>
                    <a:pt x="446024" y="223012"/>
                  </a:cubicBezTo>
                  <a:cubicBezTo>
                    <a:pt x="446024" y="346202"/>
                    <a:pt x="346202" y="446024"/>
                    <a:pt x="223012" y="446024"/>
                  </a:cubicBezTo>
                  <a:cubicBezTo>
                    <a:pt x="99822" y="446024"/>
                    <a:pt x="0" y="346202"/>
                    <a:pt x="0" y="223012"/>
                  </a:cubicBezTo>
                  <a:close/>
                </a:path>
              </a:pathLst>
            </a:custGeom>
            <a:solidFill>
              <a:srgbClr val="0F766E"/>
            </a:solidFill>
            <a:ln w="19050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8695944" y="5698998"/>
            <a:ext cx="315468" cy="137160"/>
            <a:chOff x="0" y="0"/>
            <a:chExt cx="420624" cy="1828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20624" cy="182880"/>
            </a:xfrm>
            <a:custGeom>
              <a:avLst/>
              <a:gdLst/>
              <a:ahLst/>
              <a:cxnLst/>
              <a:rect r="r" b="b" t="t" l="l"/>
              <a:pathLst>
                <a:path h="182880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182880"/>
                  </a:lnTo>
                  <a:lnTo>
                    <a:pt x="0" y="182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84" t="0" r="-5784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420624" cy="182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70"/>
                </a:lnSpc>
              </a:pPr>
              <a:r>
                <a:rPr lang="en-US" sz="9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344787" y="5458968"/>
            <a:ext cx="7200900" cy="644652"/>
            <a:chOff x="0" y="0"/>
            <a:chExt cx="9601200" cy="85953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601200" cy="859536"/>
            </a:xfrm>
            <a:custGeom>
              <a:avLst/>
              <a:gdLst/>
              <a:ahLst/>
              <a:cxnLst/>
              <a:rect r="r" b="b" t="t" l="l"/>
              <a:pathLst>
                <a:path h="85953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859536"/>
                  </a:lnTo>
                  <a:lnTo>
                    <a:pt x="0" y="8595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652" r="0" b="-16765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9601200" cy="8690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The system shall check restaurant and item availability.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686419" y="6519291"/>
            <a:ext cx="334518" cy="334518"/>
            <a:chOff x="0" y="0"/>
            <a:chExt cx="446024" cy="44602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46024" cy="446024"/>
            </a:xfrm>
            <a:custGeom>
              <a:avLst/>
              <a:gdLst/>
              <a:ahLst/>
              <a:cxnLst/>
              <a:rect r="r" b="b" t="t" l="l"/>
              <a:pathLst>
                <a:path h="446024" w="446024">
                  <a:moveTo>
                    <a:pt x="0" y="223012"/>
                  </a:moveTo>
                  <a:cubicBezTo>
                    <a:pt x="0" y="99822"/>
                    <a:pt x="99822" y="0"/>
                    <a:pt x="223012" y="0"/>
                  </a:cubicBezTo>
                  <a:cubicBezTo>
                    <a:pt x="346202" y="0"/>
                    <a:pt x="446024" y="99822"/>
                    <a:pt x="446024" y="223012"/>
                  </a:cubicBezTo>
                  <a:cubicBezTo>
                    <a:pt x="446024" y="346202"/>
                    <a:pt x="346202" y="446024"/>
                    <a:pt x="223012" y="446024"/>
                  </a:cubicBezTo>
                  <a:cubicBezTo>
                    <a:pt x="99822" y="446024"/>
                    <a:pt x="0" y="346202"/>
                    <a:pt x="0" y="223012"/>
                  </a:cubicBezTo>
                  <a:close/>
                </a:path>
              </a:pathLst>
            </a:custGeom>
            <a:solidFill>
              <a:srgbClr val="0F766E"/>
            </a:solidFill>
            <a:ln w="19050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8695944" y="6604254"/>
            <a:ext cx="315468" cy="137160"/>
            <a:chOff x="0" y="0"/>
            <a:chExt cx="420624" cy="1828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20624" cy="182880"/>
            </a:xfrm>
            <a:custGeom>
              <a:avLst/>
              <a:gdLst/>
              <a:ahLst/>
              <a:cxnLst/>
              <a:rect r="r" b="b" t="t" l="l"/>
              <a:pathLst>
                <a:path h="182880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182880"/>
                  </a:lnTo>
                  <a:lnTo>
                    <a:pt x="0" y="182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84" t="0" r="-5784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420624" cy="182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70"/>
                </a:lnSpc>
              </a:pPr>
              <a:r>
                <a:rPr lang="en-US" sz="9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344787" y="6364224"/>
            <a:ext cx="7200900" cy="644652"/>
            <a:chOff x="0" y="0"/>
            <a:chExt cx="9601200" cy="85953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601200" cy="859536"/>
            </a:xfrm>
            <a:custGeom>
              <a:avLst/>
              <a:gdLst/>
              <a:ahLst/>
              <a:cxnLst/>
              <a:rect r="r" b="b" t="t" l="l"/>
              <a:pathLst>
                <a:path h="85953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859536"/>
                  </a:lnTo>
                  <a:lnTo>
                    <a:pt x="0" y="8595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652" r="0" b="-16765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9601200" cy="8690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The system shall add available items to the cart.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8686419" y="7424547"/>
            <a:ext cx="334518" cy="334518"/>
            <a:chOff x="0" y="0"/>
            <a:chExt cx="446024" cy="44602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46024" cy="446024"/>
            </a:xfrm>
            <a:custGeom>
              <a:avLst/>
              <a:gdLst/>
              <a:ahLst/>
              <a:cxnLst/>
              <a:rect r="r" b="b" t="t" l="l"/>
              <a:pathLst>
                <a:path h="446024" w="446024">
                  <a:moveTo>
                    <a:pt x="0" y="223012"/>
                  </a:moveTo>
                  <a:cubicBezTo>
                    <a:pt x="0" y="99822"/>
                    <a:pt x="99822" y="0"/>
                    <a:pt x="223012" y="0"/>
                  </a:cubicBezTo>
                  <a:cubicBezTo>
                    <a:pt x="346202" y="0"/>
                    <a:pt x="446024" y="99822"/>
                    <a:pt x="446024" y="223012"/>
                  </a:cubicBezTo>
                  <a:cubicBezTo>
                    <a:pt x="446024" y="346202"/>
                    <a:pt x="346202" y="446024"/>
                    <a:pt x="223012" y="446024"/>
                  </a:cubicBezTo>
                  <a:cubicBezTo>
                    <a:pt x="99822" y="446024"/>
                    <a:pt x="0" y="346202"/>
                    <a:pt x="0" y="223012"/>
                  </a:cubicBezTo>
                  <a:close/>
                </a:path>
              </a:pathLst>
            </a:custGeom>
            <a:solidFill>
              <a:srgbClr val="0F766E"/>
            </a:solidFill>
            <a:ln w="19050" cap="sq">
              <a:solidFill>
                <a:srgbClr val="0F766E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8695944" y="7509510"/>
            <a:ext cx="315468" cy="137160"/>
            <a:chOff x="0" y="0"/>
            <a:chExt cx="420624" cy="1828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20624" cy="182880"/>
            </a:xfrm>
            <a:custGeom>
              <a:avLst/>
              <a:gdLst/>
              <a:ahLst/>
              <a:cxnLst/>
              <a:rect r="r" b="b" t="t" l="l"/>
              <a:pathLst>
                <a:path h="182880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182880"/>
                  </a:lnTo>
                  <a:lnTo>
                    <a:pt x="0" y="182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84" t="0" r="-5784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420624" cy="182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70"/>
                </a:lnSpc>
              </a:pPr>
              <a:r>
                <a:rPr lang="en-US" sz="9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344787" y="7269480"/>
            <a:ext cx="7200900" cy="644652"/>
            <a:chOff x="0" y="0"/>
            <a:chExt cx="9601200" cy="85953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601200" cy="859536"/>
            </a:xfrm>
            <a:custGeom>
              <a:avLst/>
              <a:gdLst/>
              <a:ahLst/>
              <a:cxnLst/>
              <a:rect r="r" b="b" t="t" l="l"/>
              <a:pathLst>
                <a:path h="85953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859536"/>
                  </a:lnTo>
                  <a:lnTo>
                    <a:pt x="0" y="8595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652" r="0" b="-16765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9601200" cy="8690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The system shall identify unavailable items before checkout.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695944" y="7914132"/>
            <a:ext cx="2084832" cy="274320"/>
            <a:chOff x="0" y="0"/>
            <a:chExt cx="2779776" cy="3657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779776" cy="365760"/>
            </a:xfrm>
            <a:custGeom>
              <a:avLst/>
              <a:gdLst/>
              <a:ahLst/>
              <a:cxnLst/>
              <a:rect r="r" b="b" t="t" l="l"/>
              <a:pathLst>
                <a:path h="365760" w="2779776">
                  <a:moveTo>
                    <a:pt x="0" y="0"/>
                  </a:moveTo>
                  <a:lnTo>
                    <a:pt x="2779776" y="0"/>
                  </a:lnTo>
                  <a:lnTo>
                    <a:pt x="277977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2779776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0F766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System perspective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794492" y="7914132"/>
            <a:ext cx="5143500" cy="274320"/>
            <a:chOff x="0" y="0"/>
            <a:chExt cx="6858000" cy="3657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858000" cy="365760"/>
            </a:xfrm>
            <a:custGeom>
              <a:avLst/>
              <a:gdLst/>
              <a:ahLst/>
              <a:cxnLst/>
              <a:rect r="r" b="b" t="t" l="l"/>
              <a:pathLst>
                <a:path h="36576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685800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describes what must be implemented or satisfied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7579340" y="9825228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94A3B8"/>
                </a:solidFill>
                <a:latin typeface="Aptos"/>
                <a:ea typeface="Aptos"/>
                <a:cs typeface="Aptos"/>
                <a:sym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56210"/>
            <a:chOff x="0" y="0"/>
            <a:chExt cx="24408790" cy="208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08280"/>
            </a:xfrm>
            <a:custGeom>
              <a:avLst/>
              <a:gdLst/>
              <a:ahLst/>
              <a:cxnLst/>
              <a:rect r="r" b="b" t="t" l="l"/>
              <a:pathLst>
                <a:path h="20828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08280"/>
                  </a:lnTo>
                  <a:lnTo>
                    <a:pt x="0" y="208280"/>
                  </a:lnTo>
                  <a:close/>
                </a:path>
              </a:pathLst>
            </a:custGeom>
            <a:solidFill>
              <a:srgbClr val="F97316"/>
            </a:solidFill>
            <a:ln w="1905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64108"/>
            <a:ext cx="16322040" cy="754380"/>
            <a:chOff x="0" y="0"/>
            <a:chExt cx="2176272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627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1585" r="0" b="-37158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76272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4680"/>
                </a:lnSpc>
              </a:pPr>
              <a:r>
                <a:rPr lang="en-US" sz="39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All together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2347" y="2486787"/>
            <a:ext cx="15792450" cy="1088898"/>
            <a:chOff x="0" y="0"/>
            <a:chExt cx="21056600" cy="14518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56600" cy="1451864"/>
            </a:xfrm>
            <a:custGeom>
              <a:avLst/>
              <a:gdLst/>
              <a:ahLst/>
              <a:cxnLst/>
              <a:rect r="r" b="b" t="t" l="l"/>
              <a:pathLst>
                <a:path h="1451864" w="21056600">
                  <a:moveTo>
                    <a:pt x="0" y="93091"/>
                  </a:moveTo>
                  <a:cubicBezTo>
                    <a:pt x="0" y="41656"/>
                    <a:pt x="41656" y="0"/>
                    <a:pt x="93091" y="0"/>
                  </a:cubicBezTo>
                  <a:lnTo>
                    <a:pt x="20963510" y="0"/>
                  </a:lnTo>
                  <a:cubicBezTo>
                    <a:pt x="21014945" y="0"/>
                    <a:pt x="21056600" y="41656"/>
                    <a:pt x="21056600" y="93091"/>
                  </a:cubicBezTo>
                  <a:lnTo>
                    <a:pt x="21056600" y="1358773"/>
                  </a:lnTo>
                  <a:cubicBezTo>
                    <a:pt x="21056600" y="1410208"/>
                    <a:pt x="21014945" y="1451864"/>
                    <a:pt x="20963510" y="1451864"/>
                  </a:cubicBezTo>
                  <a:lnTo>
                    <a:pt x="93091" y="1451864"/>
                  </a:lnTo>
                  <a:cubicBezTo>
                    <a:pt x="41656" y="1451864"/>
                    <a:pt x="0" y="1410208"/>
                    <a:pt x="0" y="135877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471803" y="2719959"/>
            <a:ext cx="2049018" cy="608838"/>
            <a:chOff x="0" y="0"/>
            <a:chExt cx="2732024" cy="8117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32024" cy="811784"/>
            </a:xfrm>
            <a:custGeom>
              <a:avLst/>
              <a:gdLst/>
              <a:ahLst/>
              <a:cxnLst/>
              <a:rect r="r" b="b" t="t" l="l"/>
              <a:pathLst>
                <a:path h="811784" w="2732024">
                  <a:moveTo>
                    <a:pt x="0" y="75565"/>
                  </a:moveTo>
                  <a:cubicBezTo>
                    <a:pt x="0" y="33782"/>
                    <a:pt x="33782" y="0"/>
                    <a:pt x="75565" y="0"/>
                  </a:cubicBezTo>
                  <a:lnTo>
                    <a:pt x="2656459" y="0"/>
                  </a:lnTo>
                  <a:cubicBezTo>
                    <a:pt x="2698115" y="0"/>
                    <a:pt x="2732024" y="33782"/>
                    <a:pt x="2732024" y="75565"/>
                  </a:cubicBezTo>
                  <a:lnTo>
                    <a:pt x="2732024" y="736219"/>
                  </a:lnTo>
                  <a:cubicBezTo>
                    <a:pt x="2732024" y="777875"/>
                    <a:pt x="2698242" y="811784"/>
                    <a:pt x="2656459" y="811784"/>
                  </a:cubicBezTo>
                  <a:lnTo>
                    <a:pt x="75565" y="811784"/>
                  </a:lnTo>
                  <a:cubicBezTo>
                    <a:pt x="33782" y="811784"/>
                    <a:pt x="0" y="778002"/>
                    <a:pt x="0" y="736219"/>
                  </a:cubicBezTo>
                  <a:close/>
                </a:path>
              </a:pathLst>
            </a:custGeom>
            <a:solidFill>
              <a:srgbClr val="FFF1E8"/>
            </a:solidFill>
            <a:ln w="19050" cap="sq">
              <a:solidFill>
                <a:srgbClr val="FFF1E8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18488" y="2894076"/>
            <a:ext cx="1755648" cy="205740"/>
            <a:chOff x="0" y="0"/>
            <a:chExt cx="2340864" cy="274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0864" cy="274320"/>
            </a:xfrm>
            <a:custGeom>
              <a:avLst/>
              <a:gdLst/>
              <a:ahLst/>
              <a:cxnLst/>
              <a:rect r="r" b="b" t="t" l="l"/>
              <a:pathLst>
                <a:path h="274320" w="2340864">
                  <a:moveTo>
                    <a:pt x="0" y="0"/>
                  </a:moveTo>
                  <a:lnTo>
                    <a:pt x="2340864" y="0"/>
                  </a:lnTo>
                  <a:lnTo>
                    <a:pt x="2340864" y="274320"/>
                  </a:lnTo>
                  <a:lnTo>
                    <a:pt x="0" y="274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72" r="0" b="-11627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340864" cy="274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9731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Capability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922776" y="2839212"/>
            <a:ext cx="5692140" cy="342900"/>
            <a:chOff x="0" y="0"/>
            <a:chExt cx="7589520" cy="457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89520" cy="457200"/>
            </a:xfrm>
            <a:custGeom>
              <a:avLst/>
              <a:gdLst/>
              <a:ahLst/>
              <a:cxnLst/>
              <a:rect r="r" b="b" t="t" l="l"/>
              <a:pathLst>
                <a:path h="45720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451" r="0" b="-27345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758952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What can the business do?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59568" y="2839212"/>
            <a:ext cx="5829300" cy="342900"/>
            <a:chOff x="0" y="0"/>
            <a:chExt cx="7772400" cy="457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772400" cy="457200"/>
            </a:xfrm>
            <a:custGeom>
              <a:avLst/>
              <a:gdLst/>
              <a:ahLst/>
              <a:cxnLst/>
              <a:rect r="r" b="b" t="t" l="l"/>
              <a:pathLst>
                <a:path h="45720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77724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Online Food Ordering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52347" y="3721227"/>
            <a:ext cx="15792450" cy="1088898"/>
            <a:chOff x="0" y="0"/>
            <a:chExt cx="21056600" cy="14518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056600" cy="1451864"/>
            </a:xfrm>
            <a:custGeom>
              <a:avLst/>
              <a:gdLst/>
              <a:ahLst/>
              <a:cxnLst/>
              <a:rect r="r" b="b" t="t" l="l"/>
              <a:pathLst>
                <a:path h="1451864" w="21056600">
                  <a:moveTo>
                    <a:pt x="0" y="93091"/>
                  </a:moveTo>
                  <a:cubicBezTo>
                    <a:pt x="0" y="41656"/>
                    <a:pt x="41656" y="0"/>
                    <a:pt x="93091" y="0"/>
                  </a:cubicBezTo>
                  <a:lnTo>
                    <a:pt x="20963510" y="0"/>
                  </a:lnTo>
                  <a:cubicBezTo>
                    <a:pt x="21014945" y="0"/>
                    <a:pt x="21056600" y="41656"/>
                    <a:pt x="21056600" y="93091"/>
                  </a:cubicBezTo>
                  <a:lnTo>
                    <a:pt x="21056600" y="1358773"/>
                  </a:lnTo>
                  <a:cubicBezTo>
                    <a:pt x="21056600" y="1410208"/>
                    <a:pt x="21014945" y="1451864"/>
                    <a:pt x="20963510" y="1451864"/>
                  </a:cubicBezTo>
                  <a:lnTo>
                    <a:pt x="93091" y="1451864"/>
                  </a:lnTo>
                  <a:cubicBezTo>
                    <a:pt x="41656" y="1451864"/>
                    <a:pt x="0" y="1410208"/>
                    <a:pt x="0" y="1358773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471803" y="3954399"/>
            <a:ext cx="2049018" cy="608838"/>
            <a:chOff x="0" y="0"/>
            <a:chExt cx="2732024" cy="8117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732024" cy="811784"/>
            </a:xfrm>
            <a:custGeom>
              <a:avLst/>
              <a:gdLst/>
              <a:ahLst/>
              <a:cxnLst/>
              <a:rect r="r" b="b" t="t" l="l"/>
              <a:pathLst>
                <a:path h="811784" w="2732024">
                  <a:moveTo>
                    <a:pt x="0" y="75565"/>
                  </a:moveTo>
                  <a:cubicBezTo>
                    <a:pt x="0" y="33782"/>
                    <a:pt x="33782" y="0"/>
                    <a:pt x="75565" y="0"/>
                  </a:cubicBezTo>
                  <a:lnTo>
                    <a:pt x="2656459" y="0"/>
                  </a:lnTo>
                  <a:cubicBezTo>
                    <a:pt x="2698115" y="0"/>
                    <a:pt x="2732024" y="33782"/>
                    <a:pt x="2732024" y="75565"/>
                  </a:cubicBezTo>
                  <a:lnTo>
                    <a:pt x="2732024" y="736219"/>
                  </a:lnTo>
                  <a:cubicBezTo>
                    <a:pt x="2732024" y="777875"/>
                    <a:pt x="2698242" y="811784"/>
                    <a:pt x="2656459" y="811784"/>
                  </a:cubicBezTo>
                  <a:lnTo>
                    <a:pt x="75565" y="811784"/>
                  </a:lnTo>
                  <a:cubicBezTo>
                    <a:pt x="33782" y="811784"/>
                    <a:pt x="0" y="778002"/>
                    <a:pt x="0" y="736219"/>
                  </a:cubicBezTo>
                  <a:close/>
                </a:path>
              </a:pathLst>
            </a:custGeom>
            <a:solidFill>
              <a:srgbClr val="EFF6FF"/>
            </a:solidFill>
            <a:ln w="19050" cap="sq">
              <a:solidFill>
                <a:srgbClr val="EFF6F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618488" y="4128516"/>
            <a:ext cx="1755648" cy="205740"/>
            <a:chOff x="0" y="0"/>
            <a:chExt cx="2340864" cy="2743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40864" cy="274320"/>
            </a:xfrm>
            <a:custGeom>
              <a:avLst/>
              <a:gdLst/>
              <a:ahLst/>
              <a:cxnLst/>
              <a:rect r="r" b="b" t="t" l="l"/>
              <a:pathLst>
                <a:path h="274320" w="2340864">
                  <a:moveTo>
                    <a:pt x="0" y="0"/>
                  </a:moveTo>
                  <a:lnTo>
                    <a:pt x="2340864" y="0"/>
                  </a:lnTo>
                  <a:lnTo>
                    <a:pt x="2340864" y="274320"/>
                  </a:lnTo>
                  <a:lnTo>
                    <a:pt x="0" y="274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72" r="0" b="-11627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2340864" cy="274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Process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922776" y="4073652"/>
            <a:ext cx="5692140" cy="342900"/>
            <a:chOff x="0" y="0"/>
            <a:chExt cx="7589520" cy="457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589520" cy="457200"/>
            </a:xfrm>
            <a:custGeom>
              <a:avLst/>
              <a:gdLst/>
              <a:ahLst/>
              <a:cxnLst/>
              <a:rect r="r" b="b" t="t" l="l"/>
              <a:pathLst>
                <a:path h="45720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451" r="0" b="-27345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758952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How is the work performed?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259568" y="4073652"/>
            <a:ext cx="5829300" cy="342900"/>
            <a:chOff x="0" y="0"/>
            <a:chExt cx="7772400" cy="457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772400" cy="457200"/>
            </a:xfrm>
            <a:custGeom>
              <a:avLst/>
              <a:gdLst/>
              <a:ahLst/>
              <a:cxnLst/>
              <a:rect r="r" b="b" t="t" l="l"/>
              <a:pathLst>
                <a:path h="45720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77724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Reorder Past Meal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52347" y="4955667"/>
            <a:ext cx="15792450" cy="1088898"/>
            <a:chOff x="0" y="0"/>
            <a:chExt cx="21056600" cy="14518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056600" cy="1451864"/>
            </a:xfrm>
            <a:custGeom>
              <a:avLst/>
              <a:gdLst/>
              <a:ahLst/>
              <a:cxnLst/>
              <a:rect r="r" b="b" t="t" l="l"/>
              <a:pathLst>
                <a:path h="1451864" w="21056600">
                  <a:moveTo>
                    <a:pt x="0" y="93091"/>
                  </a:moveTo>
                  <a:cubicBezTo>
                    <a:pt x="0" y="41656"/>
                    <a:pt x="41656" y="0"/>
                    <a:pt x="93091" y="0"/>
                  </a:cubicBezTo>
                  <a:lnTo>
                    <a:pt x="20963510" y="0"/>
                  </a:lnTo>
                  <a:cubicBezTo>
                    <a:pt x="21014945" y="0"/>
                    <a:pt x="21056600" y="41656"/>
                    <a:pt x="21056600" y="93091"/>
                  </a:cubicBezTo>
                  <a:lnTo>
                    <a:pt x="21056600" y="1358773"/>
                  </a:lnTo>
                  <a:cubicBezTo>
                    <a:pt x="21056600" y="1410208"/>
                    <a:pt x="21014945" y="1451864"/>
                    <a:pt x="20963510" y="1451864"/>
                  </a:cubicBezTo>
                  <a:lnTo>
                    <a:pt x="93091" y="1451864"/>
                  </a:lnTo>
                  <a:cubicBezTo>
                    <a:pt x="41656" y="1451864"/>
                    <a:pt x="0" y="1410208"/>
                    <a:pt x="0" y="135877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471803" y="5188839"/>
            <a:ext cx="2049018" cy="608838"/>
            <a:chOff x="0" y="0"/>
            <a:chExt cx="2732024" cy="8117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732024" cy="811784"/>
            </a:xfrm>
            <a:custGeom>
              <a:avLst/>
              <a:gdLst/>
              <a:ahLst/>
              <a:cxnLst/>
              <a:rect r="r" b="b" t="t" l="l"/>
              <a:pathLst>
                <a:path h="811784" w="2732024">
                  <a:moveTo>
                    <a:pt x="0" y="75565"/>
                  </a:moveTo>
                  <a:cubicBezTo>
                    <a:pt x="0" y="33782"/>
                    <a:pt x="33782" y="0"/>
                    <a:pt x="75565" y="0"/>
                  </a:cubicBezTo>
                  <a:lnTo>
                    <a:pt x="2656459" y="0"/>
                  </a:lnTo>
                  <a:cubicBezTo>
                    <a:pt x="2698115" y="0"/>
                    <a:pt x="2732024" y="33782"/>
                    <a:pt x="2732024" y="75565"/>
                  </a:cubicBezTo>
                  <a:lnTo>
                    <a:pt x="2732024" y="736219"/>
                  </a:lnTo>
                  <a:cubicBezTo>
                    <a:pt x="2732024" y="777875"/>
                    <a:pt x="2698242" y="811784"/>
                    <a:pt x="2656459" y="811784"/>
                  </a:cubicBezTo>
                  <a:lnTo>
                    <a:pt x="75565" y="811784"/>
                  </a:lnTo>
                  <a:cubicBezTo>
                    <a:pt x="33782" y="811784"/>
                    <a:pt x="0" y="778002"/>
                    <a:pt x="0" y="736219"/>
                  </a:cubicBezTo>
                  <a:close/>
                </a:path>
              </a:pathLst>
            </a:custGeom>
            <a:solidFill>
              <a:srgbClr val="F5F3FF"/>
            </a:solidFill>
            <a:ln w="19050" cap="sq">
              <a:solidFill>
                <a:srgbClr val="F5F3FF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618488" y="5362956"/>
            <a:ext cx="1755648" cy="205740"/>
            <a:chOff x="0" y="0"/>
            <a:chExt cx="2340864" cy="2743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340864" cy="274320"/>
            </a:xfrm>
            <a:custGeom>
              <a:avLst/>
              <a:gdLst/>
              <a:ahLst/>
              <a:cxnLst/>
              <a:rect r="r" b="b" t="t" l="l"/>
              <a:pathLst>
                <a:path h="274320" w="2340864">
                  <a:moveTo>
                    <a:pt x="0" y="0"/>
                  </a:moveTo>
                  <a:lnTo>
                    <a:pt x="2340864" y="0"/>
                  </a:lnTo>
                  <a:lnTo>
                    <a:pt x="2340864" y="274320"/>
                  </a:lnTo>
                  <a:lnTo>
                    <a:pt x="0" y="274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72" r="0" b="-11627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2340864" cy="274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Persona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922776" y="5308092"/>
            <a:ext cx="5692140" cy="342900"/>
            <a:chOff x="0" y="0"/>
            <a:chExt cx="7589520" cy="457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589520" cy="457200"/>
            </a:xfrm>
            <a:custGeom>
              <a:avLst/>
              <a:gdLst/>
              <a:ahLst/>
              <a:cxnLst/>
              <a:rect r="r" b="b" t="t" l="l"/>
              <a:pathLst>
                <a:path h="45720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451" r="0" b="-27345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758952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Who are we solving for?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259568" y="5308092"/>
            <a:ext cx="5829300" cy="342900"/>
            <a:chOff x="0" y="0"/>
            <a:chExt cx="7772400" cy="457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772400" cy="457200"/>
            </a:xfrm>
            <a:custGeom>
              <a:avLst/>
              <a:gdLst/>
              <a:ahLst/>
              <a:cxnLst/>
              <a:rect r="r" b="b" t="t" l="l"/>
              <a:pathLst>
                <a:path h="45720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77724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Returning Customer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52347" y="6190107"/>
            <a:ext cx="15792450" cy="1088898"/>
            <a:chOff x="0" y="0"/>
            <a:chExt cx="21056600" cy="145186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056600" cy="1451864"/>
            </a:xfrm>
            <a:custGeom>
              <a:avLst/>
              <a:gdLst/>
              <a:ahLst/>
              <a:cxnLst/>
              <a:rect r="r" b="b" t="t" l="l"/>
              <a:pathLst>
                <a:path h="1451864" w="21056600">
                  <a:moveTo>
                    <a:pt x="0" y="93091"/>
                  </a:moveTo>
                  <a:cubicBezTo>
                    <a:pt x="0" y="41656"/>
                    <a:pt x="41656" y="0"/>
                    <a:pt x="93091" y="0"/>
                  </a:cubicBezTo>
                  <a:lnTo>
                    <a:pt x="20963510" y="0"/>
                  </a:lnTo>
                  <a:cubicBezTo>
                    <a:pt x="21014945" y="0"/>
                    <a:pt x="21056600" y="41656"/>
                    <a:pt x="21056600" y="93091"/>
                  </a:cubicBezTo>
                  <a:lnTo>
                    <a:pt x="21056600" y="1358773"/>
                  </a:lnTo>
                  <a:cubicBezTo>
                    <a:pt x="21056600" y="1410208"/>
                    <a:pt x="21014945" y="1451864"/>
                    <a:pt x="20963510" y="1451864"/>
                  </a:cubicBezTo>
                  <a:lnTo>
                    <a:pt x="93091" y="1451864"/>
                  </a:lnTo>
                  <a:cubicBezTo>
                    <a:pt x="41656" y="1451864"/>
                    <a:pt x="0" y="1410208"/>
                    <a:pt x="0" y="1358773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471803" y="6423279"/>
            <a:ext cx="2049018" cy="608838"/>
            <a:chOff x="0" y="0"/>
            <a:chExt cx="2732024" cy="81178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732024" cy="811784"/>
            </a:xfrm>
            <a:custGeom>
              <a:avLst/>
              <a:gdLst/>
              <a:ahLst/>
              <a:cxnLst/>
              <a:rect r="r" b="b" t="t" l="l"/>
              <a:pathLst>
                <a:path h="811784" w="2732024">
                  <a:moveTo>
                    <a:pt x="0" y="75565"/>
                  </a:moveTo>
                  <a:cubicBezTo>
                    <a:pt x="0" y="33782"/>
                    <a:pt x="33782" y="0"/>
                    <a:pt x="75565" y="0"/>
                  </a:cubicBezTo>
                  <a:lnTo>
                    <a:pt x="2656459" y="0"/>
                  </a:lnTo>
                  <a:cubicBezTo>
                    <a:pt x="2698115" y="0"/>
                    <a:pt x="2732024" y="33782"/>
                    <a:pt x="2732024" y="75565"/>
                  </a:cubicBezTo>
                  <a:lnTo>
                    <a:pt x="2732024" y="736219"/>
                  </a:lnTo>
                  <a:cubicBezTo>
                    <a:pt x="2732024" y="777875"/>
                    <a:pt x="2698242" y="811784"/>
                    <a:pt x="2656459" y="811784"/>
                  </a:cubicBezTo>
                  <a:lnTo>
                    <a:pt x="75565" y="811784"/>
                  </a:lnTo>
                  <a:cubicBezTo>
                    <a:pt x="33782" y="811784"/>
                    <a:pt x="0" y="778002"/>
                    <a:pt x="0" y="736219"/>
                  </a:cubicBezTo>
                  <a:close/>
                </a:path>
              </a:pathLst>
            </a:custGeom>
            <a:solidFill>
              <a:srgbClr val="F0FDF4"/>
            </a:solidFill>
            <a:ln w="19050" cap="sq">
              <a:solidFill>
                <a:srgbClr val="F0FDF4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618488" y="6597396"/>
            <a:ext cx="1755648" cy="205740"/>
            <a:chOff x="0" y="0"/>
            <a:chExt cx="2340864" cy="2743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340864" cy="274320"/>
            </a:xfrm>
            <a:custGeom>
              <a:avLst/>
              <a:gdLst/>
              <a:ahLst/>
              <a:cxnLst/>
              <a:rect r="r" b="b" t="t" l="l"/>
              <a:pathLst>
                <a:path h="274320" w="2340864">
                  <a:moveTo>
                    <a:pt x="0" y="0"/>
                  </a:moveTo>
                  <a:lnTo>
                    <a:pt x="2340864" y="0"/>
                  </a:lnTo>
                  <a:lnTo>
                    <a:pt x="2340864" y="274320"/>
                  </a:lnTo>
                  <a:lnTo>
                    <a:pt x="0" y="274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72" r="0" b="-11627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2340864" cy="274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 Story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922776" y="6542532"/>
            <a:ext cx="5692140" cy="342900"/>
            <a:chOff x="0" y="0"/>
            <a:chExt cx="7589520" cy="457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589520" cy="457200"/>
            </a:xfrm>
            <a:custGeom>
              <a:avLst/>
              <a:gdLst/>
              <a:ahLst/>
              <a:cxnLst/>
              <a:rect r="r" b="b" t="t" l="l"/>
              <a:pathLst>
                <a:path h="45720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451" r="0" b="-27345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758952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What does the user want and why?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259568" y="6542532"/>
            <a:ext cx="5829300" cy="342900"/>
            <a:chOff x="0" y="0"/>
            <a:chExt cx="7772400" cy="457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772400" cy="457200"/>
            </a:xfrm>
            <a:custGeom>
              <a:avLst/>
              <a:gdLst/>
              <a:ahLst/>
              <a:cxnLst/>
              <a:rect r="r" b="b" t="t" l="l"/>
              <a:pathLst>
                <a:path h="45720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77724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Reorder quickly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52347" y="7424547"/>
            <a:ext cx="15792450" cy="1088898"/>
            <a:chOff x="0" y="0"/>
            <a:chExt cx="21056600" cy="145186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056600" cy="1451864"/>
            </a:xfrm>
            <a:custGeom>
              <a:avLst/>
              <a:gdLst/>
              <a:ahLst/>
              <a:cxnLst/>
              <a:rect r="r" b="b" t="t" l="l"/>
              <a:pathLst>
                <a:path h="1451864" w="21056600">
                  <a:moveTo>
                    <a:pt x="0" y="93091"/>
                  </a:moveTo>
                  <a:cubicBezTo>
                    <a:pt x="0" y="41656"/>
                    <a:pt x="41656" y="0"/>
                    <a:pt x="93091" y="0"/>
                  </a:cubicBezTo>
                  <a:lnTo>
                    <a:pt x="20963510" y="0"/>
                  </a:lnTo>
                  <a:cubicBezTo>
                    <a:pt x="21014945" y="0"/>
                    <a:pt x="21056600" y="41656"/>
                    <a:pt x="21056600" y="93091"/>
                  </a:cubicBezTo>
                  <a:lnTo>
                    <a:pt x="21056600" y="1358773"/>
                  </a:lnTo>
                  <a:cubicBezTo>
                    <a:pt x="21056600" y="1410208"/>
                    <a:pt x="21014945" y="1451864"/>
                    <a:pt x="20963510" y="1451864"/>
                  </a:cubicBezTo>
                  <a:lnTo>
                    <a:pt x="93091" y="1451864"/>
                  </a:lnTo>
                  <a:cubicBezTo>
                    <a:pt x="41656" y="1451864"/>
                    <a:pt x="0" y="1410208"/>
                    <a:pt x="0" y="135877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471803" y="7657719"/>
            <a:ext cx="2049018" cy="608838"/>
            <a:chOff x="0" y="0"/>
            <a:chExt cx="2732024" cy="81178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732024" cy="811784"/>
            </a:xfrm>
            <a:custGeom>
              <a:avLst/>
              <a:gdLst/>
              <a:ahLst/>
              <a:cxnLst/>
              <a:rect r="r" b="b" t="t" l="l"/>
              <a:pathLst>
                <a:path h="811784" w="2732024">
                  <a:moveTo>
                    <a:pt x="0" y="75565"/>
                  </a:moveTo>
                  <a:cubicBezTo>
                    <a:pt x="0" y="33782"/>
                    <a:pt x="33782" y="0"/>
                    <a:pt x="75565" y="0"/>
                  </a:cubicBezTo>
                  <a:lnTo>
                    <a:pt x="2656459" y="0"/>
                  </a:lnTo>
                  <a:cubicBezTo>
                    <a:pt x="2698115" y="0"/>
                    <a:pt x="2732024" y="33782"/>
                    <a:pt x="2732024" y="75565"/>
                  </a:cubicBezTo>
                  <a:lnTo>
                    <a:pt x="2732024" y="736219"/>
                  </a:lnTo>
                  <a:cubicBezTo>
                    <a:pt x="2732024" y="777875"/>
                    <a:pt x="2698242" y="811784"/>
                    <a:pt x="2656459" y="811784"/>
                  </a:cubicBezTo>
                  <a:lnTo>
                    <a:pt x="75565" y="811784"/>
                  </a:lnTo>
                  <a:cubicBezTo>
                    <a:pt x="33782" y="811784"/>
                    <a:pt x="0" y="778002"/>
                    <a:pt x="0" y="736219"/>
                  </a:cubicBezTo>
                  <a:close/>
                </a:path>
              </a:pathLst>
            </a:custGeom>
            <a:solidFill>
              <a:srgbClr val="F0FDFA"/>
            </a:solidFill>
            <a:ln w="19050" cap="sq">
              <a:solidFill>
                <a:srgbClr val="F0FDFA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618488" y="7831836"/>
            <a:ext cx="1755648" cy="205740"/>
            <a:chOff x="0" y="0"/>
            <a:chExt cx="2340864" cy="2743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340864" cy="274320"/>
            </a:xfrm>
            <a:custGeom>
              <a:avLst/>
              <a:gdLst/>
              <a:ahLst/>
              <a:cxnLst/>
              <a:rect r="r" b="b" t="t" l="l"/>
              <a:pathLst>
                <a:path h="274320" w="2340864">
                  <a:moveTo>
                    <a:pt x="0" y="0"/>
                  </a:moveTo>
                  <a:lnTo>
                    <a:pt x="2340864" y="0"/>
                  </a:lnTo>
                  <a:lnTo>
                    <a:pt x="2340864" y="274320"/>
                  </a:lnTo>
                  <a:lnTo>
                    <a:pt x="0" y="274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72" r="0" b="-116272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2340864" cy="274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0F766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Requirement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3922776" y="7776972"/>
            <a:ext cx="5692140" cy="342900"/>
            <a:chOff x="0" y="0"/>
            <a:chExt cx="7589520" cy="4572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589520" cy="457200"/>
            </a:xfrm>
            <a:custGeom>
              <a:avLst/>
              <a:gdLst/>
              <a:ahLst/>
              <a:cxnLst/>
              <a:rect r="r" b="b" t="t" l="l"/>
              <a:pathLst>
                <a:path h="45720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451" r="0" b="-27345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758952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What must the system/business satisfy?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259568" y="7776972"/>
            <a:ext cx="5829300" cy="342900"/>
            <a:chOff x="0" y="0"/>
            <a:chExt cx="7772400" cy="4572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772400" cy="457200"/>
            </a:xfrm>
            <a:custGeom>
              <a:avLst/>
              <a:gdLst/>
              <a:ahLst/>
              <a:cxnLst/>
              <a:rect r="r" b="b" t="t" l="l"/>
              <a:pathLst>
                <a:path h="45720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77724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Check + rebuild past order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951863" y="8809863"/>
            <a:ext cx="14311122" cy="732282"/>
            <a:chOff x="0" y="0"/>
            <a:chExt cx="19081496" cy="97637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9081496" cy="976376"/>
            </a:xfrm>
            <a:custGeom>
              <a:avLst/>
              <a:gdLst/>
              <a:ahLst/>
              <a:cxnLst/>
              <a:rect r="r" b="b" t="t" l="l"/>
              <a:pathLst>
                <a:path h="976376" w="19081496">
                  <a:moveTo>
                    <a:pt x="0" y="93853"/>
                  </a:moveTo>
                  <a:cubicBezTo>
                    <a:pt x="0" y="42037"/>
                    <a:pt x="42037" y="0"/>
                    <a:pt x="93853" y="0"/>
                  </a:cubicBezTo>
                  <a:lnTo>
                    <a:pt x="18987643" y="0"/>
                  </a:lnTo>
                  <a:cubicBezTo>
                    <a:pt x="19039458" y="0"/>
                    <a:pt x="19081496" y="42037"/>
                    <a:pt x="19081496" y="93853"/>
                  </a:cubicBezTo>
                  <a:lnTo>
                    <a:pt x="19081496" y="882523"/>
                  </a:lnTo>
                  <a:cubicBezTo>
                    <a:pt x="19081496" y="934339"/>
                    <a:pt x="19039458" y="976376"/>
                    <a:pt x="18987643" y="976376"/>
                  </a:cubicBezTo>
                  <a:lnTo>
                    <a:pt x="93853" y="976376"/>
                  </a:lnTo>
                  <a:cubicBezTo>
                    <a:pt x="42037" y="976376"/>
                    <a:pt x="0" y="934339"/>
                    <a:pt x="0" y="882523"/>
                  </a:cubicBezTo>
                  <a:close/>
                </a:path>
              </a:pathLst>
            </a:custGeom>
            <a:solidFill>
              <a:srgbClr val="FFF1E8"/>
            </a:solidFill>
            <a:ln w="19050" cap="sq">
              <a:solidFill>
                <a:srgbClr val="FED7AA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2331720" y="9038844"/>
            <a:ext cx="13578840" cy="246888"/>
            <a:chOff x="0" y="0"/>
            <a:chExt cx="18105120" cy="32918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8105120" cy="329184"/>
            </a:xfrm>
            <a:custGeom>
              <a:avLst/>
              <a:gdLst/>
              <a:ahLst/>
              <a:cxnLst/>
              <a:rect r="r" b="b" t="t" l="l"/>
              <a:pathLst>
                <a:path h="329184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1677" r="0" b="-102167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1810512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4"/>
                </a:lnSpc>
              </a:pPr>
              <a:r>
                <a:rPr lang="en-US" sz="169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One-line memory:  WHAT we can do → HOW it works → WHO needs it → WHAT they want → WHAT must be delivered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7579340" y="9825228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94A3B8"/>
                </a:solidFill>
                <a:latin typeface="Aptos"/>
                <a:ea typeface="Aptos"/>
                <a:cs typeface="Aptos"/>
                <a:sym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DAHVMDu2muE</dc:identifier>
  <dcterms:modified xsi:type="dcterms:W3CDTF">2011-08-01T06:04:30Z</dcterms:modified>
  <cp:revision>1</cp:revision>
  <dc:title>BA_Core_Concepts_Visual_Guide.pptx</dc:title>
</cp:coreProperties>
</file>